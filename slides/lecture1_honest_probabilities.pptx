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asking the room: your model says 0.30 for this patient - what does that mean? You will get ranking answers and frequency answers. That split is the whole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question sit for a moment before moving on. Do not answer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a free Colab CPU. Synthetic data, so no credentialing, and any result can be re-drawn with a new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out loud: the prior did real work. Beta(2,2) plus 10 observations gives a posterior mean of 0.71, not 0.80. Ask whether that shrinkage is a bug - it is the same mechanism that saves the small hospital in Lecture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on to that shape. In section 3 we meet the kind of uncertainty that does not go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in the notebook: recover the temperature that broke the overconfident model. It lands near 2.4 because that is how the damage was generated - recalibration works when you have correctly guessed the shape of the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room only takes one thing from Lecture 1, make it this: know your aleatoric floor before you promise anyone an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many papers they have read that report a 0.01 AUROC gain as an improvement, and how many reported an interval.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is short, this is the slide to protect. It is the one finding in the lecture that changes what people build on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notebook exercise, adding explicit missingness indicators recovers most of what median imputation destroys. Caution to carry forward: the indicator encodes local ordering practice, so it is a useful feature and a fragile one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D"/>
        </a:solidFill>
      </p:bgPr>
    </p:bg>
    <p:spTree>
      <p:nvGrpSpPr>
        <p:cNvPr id="1" name=""/>
        <p:cNvGrpSpPr/>
        <p:nvPr/>
      </p:nvGrpSpPr>
      <p:grpSpPr>
        <a:xfrm>
          <a:off x="0" y="0"/>
          <a:ext cx="0" cy="0"/>
          <a:chOff x="0" y="0"/>
          <a:chExt cx="0" cy="0"/>
        </a:xfrm>
      </p:grpSpPr>
      <p:sp>
        <p:nvSpPr>
          <p:cNvPr id="2" name="Text 0"/>
          <p:cNvSpPr txBox="1"/>
          <p:nvPr/>
        </p:nvSpPr>
        <p:spPr>
          <a:xfrm>
            <a:off x="685800" y="1371600"/>
            <a:ext cx="10789920" cy="320040"/>
          </a:xfrm>
          <a:prstGeom prst="rect">
            <a:avLst/>
          </a:prstGeom>
          <a:noFill/>
          <a:ln/>
        </p:spPr>
        <p:txBody>
          <a:bodyPr wrap="square" lIns="0" tIns="0" rIns="0" bIns="0" rtlCol="0" anchor="ctr"/>
          <a:lstStyle/>
          <a:p>
            <a:pPr indent="0" marL="0">
              <a:buNone/>
            </a:pPr>
            <a:r>
              <a:rPr lang="en-US" sz="1500" b="1" spc="200" kern="0" dirty="0">
                <a:solidFill>
                  <a:srgbClr val="DD5A22"/>
                </a:solidFill>
                <a:latin typeface="Calibri" pitchFamily="34" charset="0"/>
                <a:ea typeface="Calibri" pitchFamily="34" charset="-122"/>
                <a:cs typeface="Calibri" pitchFamily="34" charset="-120"/>
              </a:rPr>
              <a:t>HEALTHCARE AI MODULE  ·  LECTURE 1</a:t>
            </a:r>
            <a:endParaRPr lang="en-US" sz="1500" dirty="0"/>
          </a:p>
        </p:txBody>
      </p:sp>
      <p:sp>
        <p:nvSpPr>
          <p:cNvPr id="3" name="Text 1"/>
          <p:cNvSpPr txBox="1"/>
          <p:nvPr/>
        </p:nvSpPr>
        <p:spPr>
          <a:xfrm>
            <a:off x="685800" y="1828800"/>
            <a:ext cx="10424160" cy="173736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Honest probabilities in</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clinical prediction</a:t>
            </a:r>
            <a:endParaRPr lang="en-US" sz="4600" dirty="0"/>
          </a:p>
        </p:txBody>
      </p:sp>
      <p:sp>
        <p:nvSpPr>
          <p:cNvPr id="4" name="Text 2"/>
          <p:cNvSpPr txBox="1"/>
          <p:nvPr/>
        </p:nvSpPr>
        <p:spPr>
          <a:xfrm>
            <a:off x="685800" y="3703320"/>
            <a:ext cx="9418320" cy="822960"/>
          </a:xfrm>
          <a:prstGeom prst="rect">
            <a:avLst/>
          </a:prstGeom>
          <a:noFill/>
          <a:ln/>
        </p:spPr>
        <p:txBody>
          <a:bodyPr wrap="square" lIns="0" tIns="0" rIns="0" bIns="0" rtlCol="0" anchor="ctr"/>
          <a:lstStyle/>
          <a:p>
            <a:pPr indent="0" marL="0">
              <a:lnSpc>
                <a:spcPct val="120000"/>
              </a:lnSpc>
              <a:buNone/>
            </a:pPr>
            <a:r>
              <a:rPr lang="en-US" sz="1900" dirty="0">
                <a:solidFill>
                  <a:srgbClr val="AFC0D0"/>
                </a:solidFill>
                <a:latin typeface="Calibri" pitchFamily="34" charset="0"/>
                <a:ea typeface="Calibri" pitchFamily="34" charset="-122"/>
                <a:cs typeface="Calibri" pitchFamily="34" charset="-120"/>
              </a:rPr>
              <a:t>AI &amp; Uncertainty School and Workshop 2026</a:t>
            </a:r>
            <a:endParaRPr lang="en-US" sz="1900" dirty="0"/>
          </a:p>
          <a:p>
            <a:pPr indent="0" marL="0">
              <a:lnSpc>
                <a:spcPct val="120000"/>
              </a:lnSpc>
              <a:buNone/>
            </a:pPr>
            <a:r>
              <a:rPr lang="en-US" sz="1900" dirty="0">
                <a:solidFill>
                  <a:srgbClr val="AFC0D0"/>
                </a:solidFill>
                <a:latin typeface="Calibri" pitchFamily="34" charset="0"/>
                <a:ea typeface="Calibri" pitchFamily="34" charset="-122"/>
                <a:cs typeface="Calibri" pitchFamily="34" charset="-120"/>
              </a:rPr>
              <a:t>Mauritius, 16-20 November</a:t>
            </a:r>
            <a:endParaRPr lang="en-US" sz="1900" dirty="0"/>
          </a:p>
        </p:txBody>
      </p:sp>
      <p:sp>
        <p:nvSpPr>
          <p:cNvPr id="5" name="Shape 3"/>
          <p:cNvSpPr/>
          <p:nvPr/>
        </p:nvSpPr>
        <p:spPr>
          <a:xfrm>
            <a:off x="685800" y="4892040"/>
            <a:ext cx="1005840" cy="32004"/>
          </a:xfrm>
          <a:prstGeom prst="rect">
            <a:avLst/>
          </a:prstGeom>
          <a:solidFill>
            <a:srgbClr val="DD5A22"/>
          </a:solidFill>
          <a:ln/>
        </p:spPr>
      </p:sp>
      <p:sp>
        <p:nvSpPr>
          <p:cNvPr id="6" name="Text 4"/>
          <p:cNvSpPr txBox="1"/>
          <p:nvPr/>
        </p:nvSpPr>
        <p:spPr>
          <a:xfrm>
            <a:off x="685800" y="5166360"/>
            <a:ext cx="1078992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Alireza Vafaei Sadr</a:t>
            </a:r>
            <a:endParaRPr lang="en-US" sz="1600" dirty="0"/>
          </a:p>
        </p:txBody>
      </p:sp>
      <p:sp>
        <p:nvSpPr>
          <p:cNvPr id="7" name="Text 5"/>
          <p:cNvSpPr txBox="1"/>
          <p:nvPr/>
        </p:nvSpPr>
        <p:spPr>
          <a:xfrm>
            <a:off x="685800" y="5532120"/>
            <a:ext cx="10789920" cy="32004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Penn State College of Medicine  ·  github.com/vafaei-ar/ai-uncertainty-2026-healthcare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7"/>
        </a:solidFill>
      </p:bgPr>
    </p:bg>
    <p:spTree>
      <p:nvGrpSpPr>
        <p:cNvPr id="1" name=""/>
        <p:cNvGrpSpPr/>
        <p:nvPr/>
      </p:nvGrpSpPr>
      <p:grpSpPr>
        <a:xfrm>
          <a:off x="0" y="0"/>
          <a:ext cx="0" cy="0"/>
          <a:chOff x="0" y="0"/>
          <a:chExt cx="0" cy="0"/>
        </a:xfrm>
      </p:grpSpPr>
      <p:sp>
        <p:nvSpPr>
          <p:cNvPr id="2" name="Text 0"/>
          <p:cNvSpPr txBox="1"/>
          <p:nvPr/>
        </p:nvSpPr>
        <p:spPr>
          <a:xfrm>
            <a:off x="960120" y="1737360"/>
            <a:ext cx="10241280" cy="2286000"/>
          </a:xfrm>
          <a:prstGeom prst="rect">
            <a:avLst/>
          </a:prstGeom>
          <a:noFill/>
          <a:ln/>
        </p:spPr>
        <p:txBody>
          <a:bodyPr wrap="square" lIns="0" tIns="0" rIns="0" bIns="0" rtlCol="0" anchor="ctr"/>
          <a:lstStyle/>
          <a:p>
            <a:pPr indent="0" marL="0">
              <a:lnSpc>
                <a:spcPct val="112000"/>
              </a:lnSpc>
              <a:buNone/>
            </a:pPr>
            <a:r>
              <a:rPr lang="en-US" sz="3600" b="1" dirty="0">
                <a:solidFill>
                  <a:srgbClr val="13293D"/>
                </a:solidFill>
                <a:latin typeface="Cambria" pitchFamily="34" charset="0"/>
                <a:ea typeface="Cambria" pitchFamily="34" charset="-122"/>
                <a:cs typeface="Cambria" pitchFamily="34" charset="-120"/>
              </a:rPr>
              <a:t>A deployed model does not output a ranking.</a:t>
            </a:r>
            <a:endParaRPr lang="en-US" sz="3600" dirty="0"/>
          </a:p>
          <a:p>
            <a:pPr indent="0" marL="0">
              <a:lnSpc>
                <a:spcPct val="112000"/>
              </a:lnSpc>
              <a:buNone/>
            </a:pPr>
            <a:r>
              <a:rPr lang="en-US" sz="3600" b="1" dirty="0">
                <a:solidFill>
                  <a:srgbClr val="13293D"/>
                </a:solidFill>
                <a:latin typeface="Cambria" pitchFamily="34" charset="0"/>
                <a:ea typeface="Cambria" pitchFamily="34" charset="-122"/>
                <a:cs typeface="Cambria" pitchFamily="34" charset="-120"/>
              </a:rPr>
              <a:t>It outputs a number a tired registrar at 3am</a:t>
            </a:r>
            <a:endParaRPr lang="en-US" sz="3600" dirty="0"/>
          </a:p>
          <a:p>
            <a:pPr indent="0" marL="0">
              <a:lnSpc>
                <a:spcPct val="112000"/>
              </a:lnSpc>
              <a:buNone/>
            </a:pPr>
            <a:r>
              <a:rPr lang="en-US" sz="3600" b="1" dirty="0">
                <a:solidFill>
                  <a:srgbClr val="13293D"/>
                </a:solidFill>
                <a:latin typeface="Cambria" pitchFamily="34" charset="0"/>
                <a:ea typeface="Cambria" pitchFamily="34" charset="-122"/>
                <a:cs typeface="Cambria" pitchFamily="34" charset="-120"/>
              </a:rPr>
              <a:t>will read as a probability, and act on.</a:t>
            </a:r>
            <a:endParaRPr lang="en-US" sz="3600" dirty="0"/>
          </a:p>
        </p:txBody>
      </p:sp>
      <p:sp>
        <p:nvSpPr>
          <p:cNvPr id="3" name="Shape 1"/>
          <p:cNvSpPr/>
          <p:nvPr/>
        </p:nvSpPr>
        <p:spPr>
          <a:xfrm>
            <a:off x="960120" y="4224528"/>
            <a:ext cx="1005840" cy="32004"/>
          </a:xfrm>
          <a:prstGeom prst="rect">
            <a:avLst/>
          </a:prstGeom>
          <a:solidFill>
            <a:srgbClr val="DD5A22"/>
          </a:solidFill>
          <a:ln/>
        </p:spPr>
      </p:sp>
      <p:sp>
        <p:nvSpPr>
          <p:cNvPr id="4" name="Text 2"/>
          <p:cNvSpPr txBox="1"/>
          <p:nvPr/>
        </p:nvSpPr>
        <p:spPr>
          <a:xfrm>
            <a:off x="960120" y="4681728"/>
            <a:ext cx="9326880" cy="1325880"/>
          </a:xfrm>
          <a:prstGeom prst="rect">
            <a:avLst/>
          </a:prstGeom>
          <a:noFill/>
          <a:ln/>
        </p:spPr>
        <p:txBody>
          <a:bodyPr wrap="square" lIns="0" tIns="0" rIns="0" bIns="0" rtlCol="0" anchor="ctr"/>
          <a:lstStyle/>
          <a:p>
            <a:pPr indent="0" marL="0">
              <a:lnSpc>
                <a:spcPct val="125000"/>
              </a:lnSpc>
              <a:buNone/>
            </a:pPr>
            <a:r>
              <a:rPr lang="en-US" sz="1800" dirty="0">
                <a:solidFill>
                  <a:srgbClr val="3A4A59"/>
                </a:solidFill>
                <a:latin typeface="Calibri" pitchFamily="34" charset="0"/>
                <a:ea typeface="Calibri" pitchFamily="34" charset="-122"/>
                <a:cs typeface="Calibri" pitchFamily="34" charset="-120"/>
              </a:rPr>
              <a:t>This session is about whether that number deserves to be read that way.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WHERE WE ARE GOING</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Six ideas, one hour and a half</a:t>
            </a:r>
            <a:endParaRPr lang="en-US" sz="3000" dirty="0"/>
          </a:p>
        </p:txBody>
      </p:sp>
      <p:sp>
        <p:nvSpPr>
          <p:cNvPr id="4" name="Shape 2"/>
          <p:cNvSpPr/>
          <p:nvPr/>
        </p:nvSpPr>
        <p:spPr>
          <a:xfrm>
            <a:off x="685800" y="1636776"/>
            <a:ext cx="347472" cy="347472"/>
          </a:xfrm>
          <a:prstGeom prst="ellipse">
            <a:avLst/>
          </a:prstGeom>
          <a:solidFill>
            <a:srgbClr val="2E74B5"/>
          </a:solidFill>
          <a:ln/>
        </p:spPr>
      </p:sp>
      <p:sp>
        <p:nvSpPr>
          <p:cNvPr id="5" name="Text 3"/>
          <p:cNvSpPr txBox="1"/>
          <p:nvPr/>
        </p:nvSpPr>
        <p:spPr>
          <a:xfrm>
            <a:off x="685800" y="163677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97864" y="1600200"/>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A point estimate is not an answer</a:t>
            </a:r>
            <a:endParaRPr lang="en-US" sz="1700" dirty="0"/>
          </a:p>
        </p:txBody>
      </p:sp>
      <p:sp>
        <p:nvSpPr>
          <p:cNvPr id="7" name="Text 5"/>
          <p:cNvSpPr txBox="1"/>
          <p:nvPr/>
        </p:nvSpPr>
        <p:spPr>
          <a:xfrm>
            <a:off x="1197864" y="1920240"/>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Posteriors, intervals, and what evidence actually buys you</a:t>
            </a:r>
            <a:endParaRPr lang="en-US" sz="1450" dirty="0"/>
          </a:p>
        </p:txBody>
      </p:sp>
      <p:sp>
        <p:nvSpPr>
          <p:cNvPr id="8" name="Shape 6"/>
          <p:cNvSpPr/>
          <p:nvPr/>
        </p:nvSpPr>
        <p:spPr>
          <a:xfrm>
            <a:off x="685800" y="2569464"/>
            <a:ext cx="347472" cy="347472"/>
          </a:xfrm>
          <a:prstGeom prst="ellipse">
            <a:avLst/>
          </a:prstGeom>
          <a:solidFill>
            <a:srgbClr val="DD5A22"/>
          </a:solidFill>
          <a:ln/>
        </p:spPr>
      </p:sp>
      <p:sp>
        <p:nvSpPr>
          <p:cNvPr id="9" name="Text 7"/>
          <p:cNvSpPr txBox="1"/>
          <p:nvPr/>
        </p:nvSpPr>
        <p:spPr>
          <a:xfrm>
            <a:off x="685800" y="25694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97864" y="2532888"/>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Discrimination versus calibration</a:t>
            </a:r>
            <a:endParaRPr lang="en-US" sz="1700" dirty="0"/>
          </a:p>
        </p:txBody>
      </p:sp>
      <p:sp>
        <p:nvSpPr>
          <p:cNvPr id="11" name="Text 9"/>
          <p:cNvSpPr txBox="1"/>
          <p:nvPr/>
        </p:nvSpPr>
        <p:spPr>
          <a:xfrm>
            <a:off x="1197864" y="2852928"/>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Only one of them survives a change of hospital</a:t>
            </a:r>
            <a:endParaRPr lang="en-US" sz="1450" dirty="0"/>
          </a:p>
        </p:txBody>
      </p:sp>
      <p:sp>
        <p:nvSpPr>
          <p:cNvPr id="12" name="Shape 10"/>
          <p:cNvSpPr/>
          <p:nvPr/>
        </p:nvSpPr>
        <p:spPr>
          <a:xfrm>
            <a:off x="685800" y="3502152"/>
            <a:ext cx="347472" cy="347472"/>
          </a:xfrm>
          <a:prstGeom prst="ellipse">
            <a:avLst/>
          </a:prstGeom>
          <a:solidFill>
            <a:srgbClr val="0E8F6E"/>
          </a:solidFill>
          <a:ln/>
        </p:spPr>
      </p:sp>
      <p:sp>
        <p:nvSpPr>
          <p:cNvPr id="13" name="Text 11"/>
          <p:cNvSpPr txBox="1"/>
          <p:nvPr/>
        </p:nvSpPr>
        <p:spPr>
          <a:xfrm>
            <a:off x="685800" y="35021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97864" y="3465576"/>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Epistemic versus aleatoric</a:t>
            </a:r>
            <a:endParaRPr lang="en-US" sz="1700" dirty="0"/>
          </a:p>
        </p:txBody>
      </p:sp>
      <p:sp>
        <p:nvSpPr>
          <p:cNvPr id="15" name="Text 13"/>
          <p:cNvSpPr txBox="1"/>
          <p:nvPr/>
        </p:nvSpPr>
        <p:spPr>
          <a:xfrm>
            <a:off x="1197864" y="3785616"/>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The distinction decides what you do next</a:t>
            </a:r>
            <a:endParaRPr lang="en-US" sz="1450" dirty="0"/>
          </a:p>
        </p:txBody>
      </p:sp>
      <p:sp>
        <p:nvSpPr>
          <p:cNvPr id="16" name="Shape 14"/>
          <p:cNvSpPr/>
          <p:nvPr/>
        </p:nvSpPr>
        <p:spPr>
          <a:xfrm>
            <a:off x="6400800" y="1636776"/>
            <a:ext cx="347472" cy="347472"/>
          </a:xfrm>
          <a:prstGeom prst="ellipse">
            <a:avLst/>
          </a:prstGeom>
          <a:solidFill>
            <a:srgbClr val="9C4BA0"/>
          </a:solidFill>
          <a:ln/>
        </p:spPr>
      </p:sp>
      <p:sp>
        <p:nvSpPr>
          <p:cNvPr id="17" name="Text 15"/>
          <p:cNvSpPr txBox="1"/>
          <p:nvPr/>
        </p:nvSpPr>
        <p:spPr>
          <a:xfrm>
            <a:off x="6400800" y="163677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6912864" y="1600200"/>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A synthetic EHR you can break</a:t>
            </a:r>
            <a:endParaRPr lang="en-US" sz="1700" dirty="0"/>
          </a:p>
        </p:txBody>
      </p:sp>
      <p:sp>
        <p:nvSpPr>
          <p:cNvPr id="19" name="Text 17"/>
          <p:cNvSpPr txBox="1"/>
          <p:nvPr/>
        </p:nvSpPr>
        <p:spPr>
          <a:xfrm>
            <a:off x="6912864" y="1920240"/>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Every failure mode is a named argument</a:t>
            </a:r>
            <a:endParaRPr lang="en-US" sz="1450" dirty="0"/>
          </a:p>
        </p:txBody>
      </p:sp>
      <p:sp>
        <p:nvSpPr>
          <p:cNvPr id="20" name="Shape 18"/>
          <p:cNvSpPr/>
          <p:nvPr/>
        </p:nvSpPr>
        <p:spPr>
          <a:xfrm>
            <a:off x="6400800" y="2569464"/>
            <a:ext cx="347472" cy="347472"/>
          </a:xfrm>
          <a:prstGeom prst="ellipse">
            <a:avLst/>
          </a:prstGeom>
          <a:solidFill>
            <a:srgbClr val="2E74B5"/>
          </a:solidFill>
          <a:ln/>
        </p:spPr>
      </p:sp>
      <p:sp>
        <p:nvSpPr>
          <p:cNvPr id="21" name="Text 19"/>
          <p:cNvSpPr txBox="1"/>
          <p:nvPr/>
        </p:nvSpPr>
        <p:spPr>
          <a:xfrm>
            <a:off x="6400800" y="25694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6912864" y="2532888"/>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The model meets a second hospital</a:t>
            </a:r>
            <a:endParaRPr lang="en-US" sz="1700" dirty="0"/>
          </a:p>
        </p:txBody>
      </p:sp>
      <p:sp>
        <p:nvSpPr>
          <p:cNvPr id="23" name="Text 21"/>
          <p:cNvSpPr txBox="1"/>
          <p:nvPr/>
        </p:nvSpPr>
        <p:spPr>
          <a:xfrm>
            <a:off x="6912864" y="2852928"/>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And which monitoring check notices</a:t>
            </a:r>
            <a:endParaRPr lang="en-US" sz="1450" dirty="0"/>
          </a:p>
        </p:txBody>
      </p:sp>
      <p:sp>
        <p:nvSpPr>
          <p:cNvPr id="24" name="Shape 22"/>
          <p:cNvSpPr/>
          <p:nvPr/>
        </p:nvSpPr>
        <p:spPr>
          <a:xfrm>
            <a:off x="6400800" y="3502152"/>
            <a:ext cx="347472" cy="347472"/>
          </a:xfrm>
          <a:prstGeom prst="ellipse">
            <a:avLst/>
          </a:prstGeom>
          <a:solidFill>
            <a:srgbClr val="DD5A22"/>
          </a:solidFill>
          <a:ln/>
        </p:spPr>
      </p:sp>
      <p:sp>
        <p:nvSpPr>
          <p:cNvPr id="25" name="Text 23"/>
          <p:cNvSpPr txBox="1"/>
          <p:nvPr/>
        </p:nvSpPr>
        <p:spPr>
          <a:xfrm>
            <a:off x="6400800" y="35021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24"/>
          <p:cNvSpPr txBox="1"/>
          <p:nvPr/>
        </p:nvSpPr>
        <p:spPr>
          <a:xfrm>
            <a:off x="6912864" y="3465576"/>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The information in a blank cell</a:t>
            </a:r>
            <a:endParaRPr lang="en-US" sz="1700" dirty="0"/>
          </a:p>
        </p:txBody>
      </p:sp>
      <p:sp>
        <p:nvSpPr>
          <p:cNvPr id="27" name="Text 25"/>
          <p:cNvSpPr txBox="1"/>
          <p:nvPr/>
        </p:nvSpPr>
        <p:spPr>
          <a:xfrm>
            <a:off x="6912864" y="3785616"/>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Missingness is a recorded clinical decision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93D"/>
        </a:solidFill>
      </p:bgPr>
    </p:bg>
    <p:spTree>
      <p:nvGrpSpPr>
        <p:cNvPr id="1" name=""/>
        <p:cNvGrpSpPr/>
        <p:nvPr/>
      </p:nvGrpSpPr>
      <p:grpSpPr>
        <a:xfrm>
          <a:off x="0" y="0"/>
          <a:ext cx="0" cy="0"/>
          <a:chOff x="0" y="0"/>
          <a:chExt cx="0" cy="0"/>
        </a:xfrm>
      </p:grpSpPr>
      <p:sp>
        <p:nvSpPr>
          <p:cNvPr id="2" name="Shape 0"/>
          <p:cNvSpPr/>
          <p:nvPr/>
        </p:nvSpPr>
        <p:spPr>
          <a:xfrm>
            <a:off x="685800" y="2331720"/>
            <a:ext cx="914400" cy="914400"/>
          </a:xfrm>
          <a:prstGeom prst="ellipse">
            <a:avLst/>
          </a:prstGeom>
          <a:solidFill>
            <a:srgbClr val="DD5A22"/>
          </a:solidFill>
          <a:ln/>
        </p:spPr>
      </p:sp>
      <p:sp>
        <p:nvSpPr>
          <p:cNvPr id="3" name="Text 1"/>
          <p:cNvSpPr txBox="1"/>
          <p:nvPr/>
        </p:nvSpPr>
        <p:spPr>
          <a:xfrm>
            <a:off x="685800" y="23317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1</a:t>
            </a:r>
            <a:endParaRPr lang="en-US" sz="3400" dirty="0"/>
          </a:p>
        </p:txBody>
      </p:sp>
      <p:sp>
        <p:nvSpPr>
          <p:cNvPr id="4" name="Text 2"/>
          <p:cNvSpPr txBox="1"/>
          <p:nvPr/>
        </p:nvSpPr>
        <p:spPr>
          <a:xfrm>
            <a:off x="2057400" y="2148840"/>
            <a:ext cx="941832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 point estimate is not an answer</a:t>
            </a:r>
            <a:endParaRPr lang="en-US" sz="3800" dirty="0"/>
          </a:p>
        </p:txBody>
      </p:sp>
      <p:sp>
        <p:nvSpPr>
          <p:cNvPr id="5" name="Text 3"/>
          <p:cNvSpPr txBox="1"/>
          <p:nvPr/>
        </p:nvSpPr>
        <p:spPr>
          <a:xfrm>
            <a:off x="2057400" y="3246120"/>
            <a:ext cx="8503920" cy="914400"/>
          </a:xfrm>
          <a:prstGeom prst="rect">
            <a:avLst/>
          </a:prstGeom>
          <a:noFill/>
          <a:ln/>
        </p:spPr>
        <p:txBody>
          <a:bodyPr wrap="square" lIns="0" tIns="0" rIns="0" bIns="0" rtlCol="0" anchor="ctr"/>
          <a:lstStyle/>
          <a:p>
            <a:pPr indent="0" marL="0">
              <a:lnSpc>
                <a:spcPct val="125000"/>
              </a:lnSpc>
              <a:buNone/>
            </a:pPr>
            <a:r>
              <a:rPr lang="en-US" sz="1800" dirty="0">
                <a:solidFill>
                  <a:srgbClr val="AFC0D0"/>
                </a:solidFill>
                <a:latin typeface="Calibri" pitchFamily="34" charset="0"/>
                <a:ea typeface="Calibri" pitchFamily="34" charset="-122"/>
                <a:cs typeface="Calibri" pitchFamily="34" charset="-120"/>
              </a:rPr>
              <a:t>A new sepsis alert has fired 10 times. 8 of those led to an intervention the team judged appropriate. Is the alert useful?</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TEN ALERTS, EIGHT OF THEM USEFUL</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Three honest ways to report the same evidence</a:t>
            </a:r>
            <a:endParaRPr lang="en-US" sz="3000" dirty="0"/>
          </a:p>
        </p:txBody>
      </p:sp>
      <p:sp>
        <p:nvSpPr>
          <p:cNvPr id="4" name="Shape 2"/>
          <p:cNvSpPr/>
          <p:nvPr/>
        </p:nvSpPr>
        <p:spPr>
          <a:xfrm>
            <a:off x="685800" y="1828800"/>
            <a:ext cx="3383280" cy="2514600"/>
          </a:xfrm>
          <a:prstGeom prst="roundRect">
            <a:avLst>
              <a:gd name="adj" fmla="val 2909"/>
            </a:avLst>
          </a:prstGeom>
          <a:solidFill>
            <a:srgbClr val="F2F5F7"/>
          </a:solidFill>
          <a:ln/>
        </p:spPr>
      </p:sp>
      <p:sp>
        <p:nvSpPr>
          <p:cNvPr id="5" name="Text 3"/>
          <p:cNvSpPr txBox="1"/>
          <p:nvPr/>
        </p:nvSpPr>
        <p:spPr>
          <a:xfrm>
            <a:off x="868680" y="2103120"/>
            <a:ext cx="3017520" cy="1005840"/>
          </a:xfrm>
          <a:prstGeom prst="rect">
            <a:avLst/>
          </a:prstGeom>
          <a:noFill/>
          <a:ln/>
        </p:spPr>
        <p:txBody>
          <a:bodyPr wrap="square" lIns="0" tIns="0" rIns="0" bIns="0" rtlCol="0" anchor="ctr"/>
          <a:lstStyle/>
          <a:p>
            <a:pPr algn="ctr" indent="0" marL="0">
              <a:buNone/>
            </a:pPr>
            <a:r>
              <a:rPr lang="en-US" sz="4600" b="1" dirty="0">
                <a:solidFill>
                  <a:srgbClr val="2E74B5"/>
                </a:solidFill>
                <a:latin typeface="Cambria" pitchFamily="34" charset="0"/>
                <a:ea typeface="Cambria" pitchFamily="34" charset="-122"/>
                <a:cs typeface="Cambria" pitchFamily="34" charset="-120"/>
              </a:rPr>
              <a:t>0.80</a:t>
            </a:r>
            <a:endParaRPr lang="en-US" sz="4600" dirty="0"/>
          </a:p>
        </p:txBody>
      </p:sp>
      <p:sp>
        <p:nvSpPr>
          <p:cNvPr id="6" name="Text 4"/>
          <p:cNvSpPr txBox="1"/>
          <p:nvPr/>
        </p:nvSpPr>
        <p:spPr>
          <a:xfrm>
            <a:off x="868680" y="3154680"/>
            <a:ext cx="3017520" cy="1051560"/>
          </a:xfrm>
          <a:prstGeom prst="rect">
            <a:avLst/>
          </a:prstGeom>
          <a:noFill/>
          <a:ln/>
        </p:spPr>
        <p:txBody>
          <a:bodyPr wrap="square" lIns="0" tIns="0" rIns="0" bIns="0" rtlCol="0" anchor="t"/>
          <a:lstStyle/>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Point estimate</a:t>
            </a:r>
            <a:endParaRPr lang="en-US" sz="1500" dirty="0"/>
          </a:p>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what gets reported</a:t>
            </a:r>
            <a:endParaRPr lang="en-US" sz="1500" dirty="0"/>
          </a:p>
        </p:txBody>
      </p:sp>
      <p:sp>
        <p:nvSpPr>
          <p:cNvPr id="7" name="Shape 5"/>
          <p:cNvSpPr/>
          <p:nvPr/>
        </p:nvSpPr>
        <p:spPr>
          <a:xfrm>
            <a:off x="4389120" y="1828800"/>
            <a:ext cx="3383280" cy="2514600"/>
          </a:xfrm>
          <a:prstGeom prst="roundRect">
            <a:avLst>
              <a:gd name="adj" fmla="val 2909"/>
            </a:avLst>
          </a:prstGeom>
          <a:solidFill>
            <a:srgbClr val="F2F5F7"/>
          </a:solidFill>
          <a:ln/>
        </p:spPr>
      </p:sp>
      <p:sp>
        <p:nvSpPr>
          <p:cNvPr id="8" name="Text 6"/>
          <p:cNvSpPr txBox="1"/>
          <p:nvPr/>
        </p:nvSpPr>
        <p:spPr>
          <a:xfrm>
            <a:off x="4572000" y="2103120"/>
            <a:ext cx="3017520" cy="1005840"/>
          </a:xfrm>
          <a:prstGeom prst="rect">
            <a:avLst/>
          </a:prstGeom>
          <a:noFill/>
          <a:ln/>
        </p:spPr>
        <p:txBody>
          <a:bodyPr wrap="square" lIns="0" tIns="0" rIns="0" bIns="0" rtlCol="0" anchor="ctr"/>
          <a:lstStyle/>
          <a:p>
            <a:pPr algn="ctr" indent="0" marL="0">
              <a:buNone/>
            </a:pPr>
            <a:r>
              <a:rPr lang="en-US" sz="4600" b="1" dirty="0">
                <a:solidFill>
                  <a:srgbClr val="DD5A22"/>
                </a:solidFill>
                <a:latin typeface="Cambria" pitchFamily="34" charset="0"/>
                <a:ea typeface="Cambria" pitchFamily="34" charset="-122"/>
                <a:cs typeface="Cambria" pitchFamily="34" charset="-120"/>
              </a:rPr>
              <a:t>0.71</a:t>
            </a:r>
            <a:endParaRPr lang="en-US" sz="4600" dirty="0"/>
          </a:p>
        </p:txBody>
      </p:sp>
      <p:sp>
        <p:nvSpPr>
          <p:cNvPr id="9" name="Text 7"/>
          <p:cNvSpPr txBox="1"/>
          <p:nvPr/>
        </p:nvSpPr>
        <p:spPr>
          <a:xfrm>
            <a:off x="4572000" y="3154680"/>
            <a:ext cx="3017520" cy="1051560"/>
          </a:xfrm>
          <a:prstGeom prst="rect">
            <a:avLst/>
          </a:prstGeom>
          <a:noFill/>
          <a:ln/>
        </p:spPr>
        <p:txBody>
          <a:bodyPr wrap="square" lIns="0" tIns="0" rIns="0" bIns="0" rtlCol="0" anchor="t"/>
          <a:lstStyle/>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Posterior mean</a:t>
            </a:r>
            <a:endParaRPr lang="en-US" sz="1500" dirty="0"/>
          </a:p>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under a Beta(2,2) prior</a:t>
            </a:r>
            <a:endParaRPr lang="en-US" sz="1500" dirty="0"/>
          </a:p>
        </p:txBody>
      </p:sp>
      <p:sp>
        <p:nvSpPr>
          <p:cNvPr id="10" name="Shape 8"/>
          <p:cNvSpPr/>
          <p:nvPr/>
        </p:nvSpPr>
        <p:spPr>
          <a:xfrm>
            <a:off x="8092440" y="1828800"/>
            <a:ext cx="3383280" cy="2514600"/>
          </a:xfrm>
          <a:prstGeom prst="roundRect">
            <a:avLst>
              <a:gd name="adj" fmla="val 2909"/>
            </a:avLst>
          </a:prstGeom>
          <a:solidFill>
            <a:srgbClr val="F2F5F7"/>
          </a:solidFill>
          <a:ln/>
        </p:spPr>
      </p:sp>
      <p:sp>
        <p:nvSpPr>
          <p:cNvPr id="11" name="Text 9"/>
          <p:cNvSpPr txBox="1"/>
          <p:nvPr/>
        </p:nvSpPr>
        <p:spPr>
          <a:xfrm>
            <a:off x="8275320" y="2103120"/>
            <a:ext cx="3017520" cy="1005840"/>
          </a:xfrm>
          <a:prstGeom prst="rect">
            <a:avLst/>
          </a:prstGeom>
          <a:noFill/>
          <a:ln/>
        </p:spPr>
        <p:txBody>
          <a:bodyPr wrap="square" lIns="0" tIns="0" rIns="0" bIns="0" rtlCol="0" anchor="ctr"/>
          <a:lstStyle/>
          <a:p>
            <a:pPr algn="ctr" indent="0" marL="0">
              <a:buNone/>
            </a:pPr>
            <a:r>
              <a:rPr lang="en-US" sz="3400" b="1" dirty="0">
                <a:solidFill>
                  <a:srgbClr val="0E8F6E"/>
                </a:solidFill>
                <a:latin typeface="Cambria" pitchFamily="34" charset="0"/>
                <a:ea typeface="Cambria" pitchFamily="34" charset="-122"/>
                <a:cs typeface="Cambria" pitchFamily="34" charset="-120"/>
              </a:rPr>
              <a:t>0.46 - 0.91</a:t>
            </a:r>
            <a:endParaRPr lang="en-US" sz="3400" dirty="0"/>
          </a:p>
        </p:txBody>
      </p:sp>
      <p:sp>
        <p:nvSpPr>
          <p:cNvPr id="12" name="Text 10"/>
          <p:cNvSpPr txBox="1"/>
          <p:nvPr/>
        </p:nvSpPr>
        <p:spPr>
          <a:xfrm>
            <a:off x="8275320" y="3154680"/>
            <a:ext cx="3017520" cy="1051560"/>
          </a:xfrm>
          <a:prstGeom prst="rect">
            <a:avLst/>
          </a:prstGeom>
          <a:noFill/>
          <a:ln/>
        </p:spPr>
        <p:txBody>
          <a:bodyPr wrap="square" lIns="0" tIns="0" rIns="0" bIns="0" rtlCol="0" anchor="t"/>
          <a:lstStyle/>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95% credible interval</a:t>
            </a:r>
            <a:endParaRPr lang="en-US" sz="1500" dirty="0"/>
          </a:p>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what you actually know</a:t>
            </a:r>
            <a:endParaRPr lang="en-US" sz="1500" dirty="0"/>
          </a:p>
        </p:txBody>
      </p:sp>
      <p:sp>
        <p:nvSpPr>
          <p:cNvPr id="13" name="Text 11"/>
          <p:cNvSpPr txBox="1"/>
          <p:nvPr/>
        </p:nvSpPr>
        <p:spPr>
          <a:xfrm>
            <a:off x="685800" y="4800600"/>
            <a:ext cx="10789920" cy="1280160"/>
          </a:xfrm>
          <a:prstGeom prst="rect">
            <a:avLst/>
          </a:prstGeom>
          <a:noFill/>
          <a:ln/>
        </p:spPr>
        <p:txBody>
          <a:bodyPr wrap="square" lIns="0" tIns="0" rIns="0" bIns="0" rtlCol="0" anchor="ctr"/>
          <a:lstStyle/>
          <a:p>
            <a:pPr indent="0" marL="0">
              <a:lnSpc>
                <a:spcPct val="128000"/>
              </a:lnSpc>
              <a:buNone/>
            </a:pPr>
            <a:r>
              <a:rPr lang="en-US" sz="1700" dirty="0">
                <a:solidFill>
                  <a:srgbClr val="3A4A59"/>
                </a:solidFill>
                <a:latin typeface="Calibri" pitchFamily="34" charset="0"/>
                <a:ea typeface="Calibri" pitchFamily="34" charset="-122"/>
                <a:cs typeface="Calibri" pitchFamily="34" charset="-120"/>
              </a:rPr>
              <a:t>The point estimate says 0.80. The interval says the true rate is somewhere between roughly one in two and nine in ten. Those two statements support very different decisions, and only one of them is honest about ten observations.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BAYESIAN UPDATING</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Evidence narrows belief, it does not settle it</a:t>
            </a:r>
            <a:endParaRPr lang="en-US" sz="3000" dirty="0"/>
          </a:p>
        </p:txBody>
      </p:sp>
      <p:pic>
        <p:nvPicPr>
          <p:cNvPr id="4" name="Image 0" descr="figures/l1_posterior.png">    </p:cNvPr>
          <p:cNvPicPr>
            <a:picLocks noChangeAspect="1"/>
          </p:cNvPicPr>
          <p:nvPr/>
        </p:nvPicPr>
        <p:blipFill>
          <a:blip r:embed="rId1"/>
          <a:srcRect l="0" r="0" t="0" b="0"/>
          <a:stretch/>
        </p:blipFill>
        <p:spPr>
          <a:xfrm>
            <a:off x="1874520" y="1417320"/>
            <a:ext cx="8412480" cy="3977640"/>
          </a:xfrm>
          <a:prstGeom prst="rect">
            <a:avLst/>
          </a:prstGeom>
        </p:spPr>
      </p:pic>
      <p:sp>
        <p:nvSpPr>
          <p:cNvPr id="5" name="Shape 2"/>
          <p:cNvSpPr/>
          <p:nvPr/>
        </p:nvSpPr>
        <p:spPr>
          <a:xfrm>
            <a:off x="685800" y="5623560"/>
            <a:ext cx="10789920" cy="822960"/>
          </a:xfrm>
          <a:prstGeom prst="rect">
            <a:avLst/>
          </a:prstGeom>
          <a:solidFill>
            <a:srgbClr val="F2F5F7"/>
          </a:solidFill>
          <a:ln/>
        </p:spPr>
      </p:sp>
      <p:sp>
        <p:nvSpPr>
          <p:cNvPr id="6" name="Text 3"/>
          <p:cNvSpPr txBox="1"/>
          <p:nvPr/>
        </p:nvSpPr>
        <p:spPr>
          <a:xfrm>
            <a:off x="960120" y="5623560"/>
            <a:ext cx="10241280" cy="822960"/>
          </a:xfrm>
          <a:prstGeom prst="rect">
            <a:avLst/>
          </a:prstGeom>
          <a:noFill/>
          <a:ln/>
        </p:spPr>
        <p:txBody>
          <a:bodyPr wrap="square" lIns="0" tIns="0" rIns="0" bIns="0" rtlCol="0" anchor="ctr"/>
          <a:lstStyle/>
          <a:p>
            <a:pPr indent="0" marL="0">
              <a:lnSpc>
                <a:spcPct val="115000"/>
              </a:lnSpc>
              <a:buNone/>
            </a:pPr>
            <a:r>
              <a:rPr lang="en-US" sz="1550" dirty="0">
                <a:solidFill>
                  <a:srgbClr val="3A4A59"/>
                </a:solidFill>
                <a:latin typeface="Calibri" pitchFamily="34" charset="0"/>
                <a:ea typeface="Calibri" pitchFamily="34" charset="-122"/>
                <a:cs typeface="Calibri" pitchFamily="34" charset="-120"/>
              </a:rPr>
              <a:t>The 95% interval width falls from 0.45 at n = 10 to 0.05 at n = 1000 - roughly as 1 over the square root of n. This is epistemic uncertainty: a statement about what you do not yet know, and data removes it.</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93D"/>
        </a:solidFill>
      </p:bgPr>
    </p:bg>
    <p:spTree>
      <p:nvGrpSpPr>
        <p:cNvPr id="1" name=""/>
        <p:cNvGrpSpPr/>
        <p:nvPr/>
      </p:nvGrpSpPr>
      <p:grpSpPr>
        <a:xfrm>
          <a:off x="0" y="0"/>
          <a:ext cx="0" cy="0"/>
          <a:chOff x="0" y="0"/>
          <a:chExt cx="0" cy="0"/>
        </a:xfrm>
      </p:grpSpPr>
      <p:sp>
        <p:nvSpPr>
          <p:cNvPr id="2" name="Shape 0"/>
          <p:cNvSpPr/>
          <p:nvPr/>
        </p:nvSpPr>
        <p:spPr>
          <a:xfrm>
            <a:off x="685800" y="2331720"/>
            <a:ext cx="914400" cy="914400"/>
          </a:xfrm>
          <a:prstGeom prst="ellipse">
            <a:avLst/>
          </a:prstGeom>
          <a:solidFill>
            <a:srgbClr val="DD5A22"/>
          </a:solidFill>
          <a:ln/>
        </p:spPr>
      </p:sp>
      <p:sp>
        <p:nvSpPr>
          <p:cNvPr id="3" name="Text 1"/>
          <p:cNvSpPr txBox="1"/>
          <p:nvPr/>
        </p:nvSpPr>
        <p:spPr>
          <a:xfrm>
            <a:off x="685800" y="23317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2</a:t>
            </a:r>
            <a:endParaRPr lang="en-US" sz="3400" dirty="0"/>
          </a:p>
        </p:txBody>
      </p:sp>
      <p:sp>
        <p:nvSpPr>
          <p:cNvPr id="4" name="Text 2"/>
          <p:cNvSpPr txBox="1"/>
          <p:nvPr/>
        </p:nvSpPr>
        <p:spPr>
          <a:xfrm>
            <a:off x="2057400" y="2148840"/>
            <a:ext cx="941832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Discrimination is not calibration</a:t>
            </a:r>
            <a:endParaRPr lang="en-US" sz="3800" dirty="0"/>
          </a:p>
        </p:txBody>
      </p:sp>
      <p:sp>
        <p:nvSpPr>
          <p:cNvPr id="5" name="Text 3"/>
          <p:cNvSpPr txBox="1"/>
          <p:nvPr/>
        </p:nvSpPr>
        <p:spPr>
          <a:xfrm>
            <a:off x="2057400" y="3246120"/>
            <a:ext cx="8503920" cy="914400"/>
          </a:xfrm>
          <a:prstGeom prst="rect">
            <a:avLst/>
          </a:prstGeom>
          <a:noFill/>
          <a:ln/>
        </p:spPr>
        <p:txBody>
          <a:bodyPr wrap="square" lIns="0" tIns="0" rIns="0" bIns="0" rtlCol="0" anchor="ctr"/>
          <a:lstStyle/>
          <a:p>
            <a:pPr indent="0" marL="0">
              <a:lnSpc>
                <a:spcPct val="125000"/>
              </a:lnSpc>
              <a:buNone/>
            </a:pPr>
            <a:r>
              <a:rPr lang="en-US" sz="1800" dirty="0">
                <a:solidFill>
                  <a:srgbClr val="AFC0D0"/>
                </a:solidFill>
                <a:latin typeface="Calibri" pitchFamily="34" charset="0"/>
                <a:ea typeface="Calibri" pitchFamily="34" charset="-122"/>
                <a:cs typeface="Calibri" pitchFamily="34" charset="-120"/>
              </a:rPr>
              <a:t>One asks about order. The other asks about meaning. Deployment breaks meaning first.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TWO DIFFERENT QUESTIONS</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What each metric is actually asking</a:t>
            </a:r>
            <a:endParaRPr lang="en-US" sz="3000" dirty="0"/>
          </a:p>
        </p:txBody>
      </p:sp>
      <p:sp>
        <p:nvSpPr>
          <p:cNvPr id="4" name="Shape 2"/>
          <p:cNvSpPr/>
          <p:nvPr/>
        </p:nvSpPr>
        <p:spPr>
          <a:xfrm>
            <a:off x="685800" y="1572768"/>
            <a:ext cx="5166360" cy="3703320"/>
          </a:xfrm>
          <a:prstGeom prst="roundRect">
            <a:avLst>
              <a:gd name="adj" fmla="val 1975"/>
            </a:avLst>
          </a:prstGeom>
          <a:solidFill>
            <a:srgbClr val="F2F5F7"/>
          </a:solidFill>
          <a:ln/>
        </p:spPr>
      </p:sp>
      <p:sp>
        <p:nvSpPr>
          <p:cNvPr id="5" name="Shape 3"/>
          <p:cNvSpPr/>
          <p:nvPr/>
        </p:nvSpPr>
        <p:spPr>
          <a:xfrm>
            <a:off x="1005840" y="1828800"/>
            <a:ext cx="365760" cy="365760"/>
          </a:xfrm>
          <a:prstGeom prst="ellipse">
            <a:avLst/>
          </a:prstGeom>
          <a:solidFill>
            <a:srgbClr val="2E74B5"/>
          </a:solidFill>
          <a:ln/>
        </p:spPr>
      </p:sp>
      <p:sp>
        <p:nvSpPr>
          <p:cNvPr id="6" name="Text 4"/>
          <p:cNvSpPr txBox="1"/>
          <p:nvPr/>
        </p:nvSpPr>
        <p:spPr>
          <a:xfrm>
            <a:off x="1527048" y="1792224"/>
            <a:ext cx="4005072" cy="438912"/>
          </a:xfrm>
          <a:prstGeom prst="rect">
            <a:avLst/>
          </a:prstGeom>
          <a:noFill/>
          <a:ln/>
        </p:spPr>
        <p:txBody>
          <a:bodyPr wrap="square" lIns="0" tIns="0" rIns="0" bIns="0" rtlCol="0" anchor="ctr"/>
          <a:lstStyle/>
          <a:p>
            <a:pPr indent="0" marL="0">
              <a:buNone/>
            </a:pPr>
            <a:r>
              <a:rPr lang="en-US" sz="1900" b="1" dirty="0">
                <a:solidFill>
                  <a:srgbClr val="13293D"/>
                </a:solidFill>
                <a:latin typeface="Calibri" pitchFamily="34" charset="0"/>
                <a:ea typeface="Calibri" pitchFamily="34" charset="-122"/>
                <a:cs typeface="Calibri" pitchFamily="34" charset="-120"/>
              </a:rPr>
              <a:t>AUROC asks about order</a:t>
            </a:r>
            <a:endParaRPr lang="en-US" sz="1900" dirty="0"/>
          </a:p>
        </p:txBody>
      </p:sp>
      <p:sp>
        <p:nvSpPr>
          <p:cNvPr id="7" name="Text 5"/>
          <p:cNvSpPr txBox="1"/>
          <p:nvPr/>
        </p:nvSpPr>
        <p:spPr>
          <a:xfrm>
            <a:off x="1005840" y="2377440"/>
            <a:ext cx="4526280" cy="2743200"/>
          </a:xfrm>
          <a:prstGeom prst="rect">
            <a:avLst/>
          </a:prstGeom>
          <a:noFill/>
          <a:ln/>
        </p:spPr>
        <p:txBody>
          <a:bodyPr wrap="square" lIns="0" tIns="0" rIns="0" bIns="0" rtlCol="0" anchor="t"/>
          <a:lstStyle/>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Given a patient who deteriorated and one who did not, how often does the model score the first one higher?</a:t>
            </a:r>
            <a:endParaRPr lang="en-US" sz="1450" dirty="0"/>
          </a:p>
          <a:p>
            <a:pPr indent="0" marL="0">
              <a:lnSpc>
                <a:spcPct val="122000"/>
              </a:lnSpc>
              <a:buNone/>
            </a:pPr>
            <a:endParaRPr lang="en-US" sz="1450" dirty="0"/>
          </a:p>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Invariant to prevalence.</a:t>
            </a:r>
            <a:endParaRPr lang="en-US" sz="1450" dirty="0"/>
          </a:p>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Invariant to any monotone rescaling.</a:t>
            </a:r>
            <a:endParaRPr lang="en-US" sz="1450" dirty="0"/>
          </a:p>
          <a:p>
            <a:pPr indent="0" marL="0">
              <a:lnSpc>
                <a:spcPct val="122000"/>
              </a:lnSpc>
              <a:buNone/>
            </a:pPr>
            <a:endParaRPr lang="en-US" sz="1450" dirty="0"/>
          </a:p>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Those are exactly the two things that change when you move a model to a new hospital.</a:t>
            </a:r>
            <a:endParaRPr lang="en-US" sz="1450" dirty="0"/>
          </a:p>
        </p:txBody>
      </p:sp>
      <p:sp>
        <p:nvSpPr>
          <p:cNvPr id="8" name="Shape 6"/>
          <p:cNvSpPr/>
          <p:nvPr/>
        </p:nvSpPr>
        <p:spPr>
          <a:xfrm>
            <a:off x="6309360" y="1572768"/>
            <a:ext cx="5166360" cy="3703320"/>
          </a:xfrm>
          <a:prstGeom prst="roundRect">
            <a:avLst>
              <a:gd name="adj" fmla="val 1975"/>
            </a:avLst>
          </a:prstGeom>
          <a:solidFill>
            <a:srgbClr val="F2F5F7"/>
          </a:solidFill>
          <a:ln/>
        </p:spPr>
      </p:sp>
      <p:sp>
        <p:nvSpPr>
          <p:cNvPr id="9" name="Shape 7"/>
          <p:cNvSpPr/>
          <p:nvPr/>
        </p:nvSpPr>
        <p:spPr>
          <a:xfrm>
            <a:off x="6629400" y="1828800"/>
            <a:ext cx="365760" cy="365760"/>
          </a:xfrm>
          <a:prstGeom prst="ellipse">
            <a:avLst/>
          </a:prstGeom>
          <a:solidFill>
            <a:srgbClr val="DD5A22"/>
          </a:solidFill>
          <a:ln/>
        </p:spPr>
      </p:sp>
      <p:sp>
        <p:nvSpPr>
          <p:cNvPr id="10" name="Text 8"/>
          <p:cNvSpPr txBox="1"/>
          <p:nvPr/>
        </p:nvSpPr>
        <p:spPr>
          <a:xfrm>
            <a:off x="7150608" y="1792224"/>
            <a:ext cx="4005072" cy="438912"/>
          </a:xfrm>
          <a:prstGeom prst="rect">
            <a:avLst/>
          </a:prstGeom>
          <a:noFill/>
          <a:ln/>
        </p:spPr>
        <p:txBody>
          <a:bodyPr wrap="square" lIns="0" tIns="0" rIns="0" bIns="0" rtlCol="0" anchor="ctr"/>
          <a:lstStyle/>
          <a:p>
            <a:pPr indent="0" marL="0">
              <a:buNone/>
            </a:pPr>
            <a:r>
              <a:rPr lang="en-US" sz="1900" b="1" dirty="0">
                <a:solidFill>
                  <a:srgbClr val="13293D"/>
                </a:solidFill>
                <a:latin typeface="Calibri" pitchFamily="34" charset="0"/>
                <a:ea typeface="Calibri" pitchFamily="34" charset="-122"/>
                <a:cs typeface="Calibri" pitchFamily="34" charset="-120"/>
              </a:rPr>
              <a:t>Calibration asks about meaning</a:t>
            </a:r>
            <a:endParaRPr lang="en-US" sz="1900" dirty="0"/>
          </a:p>
        </p:txBody>
      </p:sp>
      <p:sp>
        <p:nvSpPr>
          <p:cNvPr id="11" name="Text 9"/>
          <p:cNvSpPr txBox="1"/>
          <p:nvPr/>
        </p:nvSpPr>
        <p:spPr>
          <a:xfrm>
            <a:off x="6629400" y="2377440"/>
            <a:ext cx="4526280" cy="2743200"/>
          </a:xfrm>
          <a:prstGeom prst="rect">
            <a:avLst/>
          </a:prstGeom>
          <a:noFill/>
          <a:ln/>
        </p:spPr>
        <p:txBody>
          <a:bodyPr wrap="square" lIns="0" tIns="0" rIns="0" bIns="0" rtlCol="0" anchor="t"/>
          <a:lstStyle/>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Among the patients you assigned a risk of 0.3, did about 30% actually deteriorate?</a:t>
            </a:r>
            <a:endParaRPr lang="en-US" sz="1450" dirty="0"/>
          </a:p>
          <a:p>
            <a:pPr indent="0" marL="0">
              <a:lnSpc>
                <a:spcPct val="122000"/>
              </a:lnSpc>
              <a:buNone/>
            </a:pPr>
            <a:endParaRPr lang="en-US" sz="1450" dirty="0"/>
          </a:p>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Measured by Brier score, log loss, expected calibration error, and the reliability curve.</a:t>
            </a:r>
            <a:endParaRPr lang="en-US" sz="1450" dirty="0"/>
          </a:p>
          <a:p>
            <a:pPr indent="0" marL="0">
              <a:lnSpc>
                <a:spcPct val="122000"/>
              </a:lnSpc>
              <a:buNone/>
            </a:pPr>
            <a:endParaRPr lang="en-US" sz="1450" dirty="0"/>
          </a:p>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This is the property a threshold, a bed allocation and a clinical conversation all depend on.</a:t>
            </a:r>
            <a:endParaRPr lang="en-US" sz="1450" dirty="0"/>
          </a:p>
        </p:txBody>
      </p:sp>
      <p:sp>
        <p:nvSpPr>
          <p:cNvPr id="12" name="Text 10"/>
          <p:cNvSpPr txBox="1"/>
          <p:nvPr/>
        </p:nvSpPr>
        <p:spPr>
          <a:xfrm>
            <a:off x="685800" y="5486400"/>
            <a:ext cx="10789920" cy="914400"/>
          </a:xfrm>
          <a:prstGeom prst="rect">
            <a:avLst/>
          </a:prstGeom>
          <a:noFill/>
          <a:ln/>
        </p:spPr>
        <p:txBody>
          <a:bodyPr wrap="square" lIns="0" tIns="0" rIns="0" bIns="0" rtlCol="0" anchor="ctr"/>
          <a:lstStyle/>
          <a:p>
            <a:pPr indent="0" marL="0">
              <a:lnSpc>
                <a:spcPct val="120000"/>
              </a:lnSpc>
              <a:buNone/>
            </a:pPr>
            <a:r>
              <a:rPr lang="en-US" sz="1650" b="1" dirty="0">
                <a:solidFill>
                  <a:srgbClr val="13293D"/>
                </a:solidFill>
                <a:latin typeface="Calibri" pitchFamily="34" charset="0"/>
                <a:ea typeface="Calibri" pitchFamily="34" charset="-122"/>
                <a:cs typeface="Calibri" pitchFamily="34" charset="-120"/>
              </a:rPr>
              <a:t>The metric most often reported is the metric most blind to the most common deployment failure.</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THREE MONOTONE TRANSFORMATIONS OF ONE SCORE</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Same ranking. Same AUROC to four decimals.</a:t>
            </a:r>
            <a:endParaRPr lang="en-US" sz="3000" dirty="0"/>
          </a:p>
        </p:txBody>
      </p:sp>
      <p:pic>
        <p:nvPicPr>
          <p:cNvPr id="4" name="Image 0" descr="figures/l1_calibration.png">    </p:cNvPr>
          <p:cNvPicPr>
            <a:picLocks noChangeAspect="1"/>
          </p:cNvPicPr>
          <p:nvPr/>
        </p:nvPicPr>
        <p:blipFill>
          <a:blip r:embed="rId1"/>
          <a:srcRect l="0" r="0" t="0" b="0"/>
          <a:stretch/>
        </p:blipFill>
        <p:spPr>
          <a:xfrm>
            <a:off x="1874520" y="1417320"/>
            <a:ext cx="8412480" cy="3977640"/>
          </a:xfrm>
          <a:prstGeom prst="rect">
            <a:avLst/>
          </a:prstGeom>
        </p:spPr>
      </p:pic>
      <p:sp>
        <p:nvSpPr>
          <p:cNvPr id="5" name="Shape 2"/>
          <p:cNvSpPr/>
          <p:nvPr/>
        </p:nvSpPr>
        <p:spPr>
          <a:xfrm>
            <a:off x="685800" y="5623560"/>
            <a:ext cx="10789920" cy="822960"/>
          </a:xfrm>
          <a:prstGeom prst="rect">
            <a:avLst/>
          </a:prstGeom>
          <a:solidFill>
            <a:srgbClr val="F2F5F7"/>
          </a:solidFill>
          <a:ln/>
        </p:spPr>
      </p:sp>
      <p:sp>
        <p:nvSpPr>
          <p:cNvPr id="6" name="Text 3"/>
          <p:cNvSpPr txBox="1"/>
          <p:nvPr/>
        </p:nvSpPr>
        <p:spPr>
          <a:xfrm>
            <a:off x="960120" y="5623560"/>
            <a:ext cx="10241280" cy="822960"/>
          </a:xfrm>
          <a:prstGeom prst="rect">
            <a:avLst/>
          </a:prstGeom>
          <a:noFill/>
          <a:ln/>
        </p:spPr>
        <p:txBody>
          <a:bodyPr wrap="square" lIns="0" tIns="0" rIns="0" bIns="0" rtlCol="0" anchor="ctr"/>
          <a:lstStyle/>
          <a:p>
            <a:pPr indent="0" marL="0">
              <a:lnSpc>
                <a:spcPct val="115000"/>
              </a:lnSpc>
              <a:buNone/>
            </a:pPr>
            <a:r>
              <a:rPr lang="en-US" sz="1550" dirty="0">
                <a:solidFill>
                  <a:srgbClr val="3A4A59"/>
                </a:solidFill>
                <a:latin typeface="Calibri" pitchFamily="34" charset="0"/>
                <a:ea typeface="Calibri" pitchFamily="34" charset="-122"/>
                <a:cs typeface="Calibri" pitchFamily="34" charset="-120"/>
              </a:rPr>
              <a:t>The overconfident model promises a risk far above what the ward delivers, so a fixed threshold floods the ICU. The timid model does the opposite and lets patients through. AUROC cannot tell them apart; Brier, log loss and ECE separate them immediately.</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93D"/>
        </a:solidFill>
      </p:bgPr>
    </p:bg>
    <p:spTree>
      <p:nvGrpSpPr>
        <p:cNvPr id="1" name=""/>
        <p:cNvGrpSpPr/>
        <p:nvPr/>
      </p:nvGrpSpPr>
      <p:grpSpPr>
        <a:xfrm>
          <a:off x="0" y="0"/>
          <a:ext cx="0" cy="0"/>
          <a:chOff x="0" y="0"/>
          <a:chExt cx="0" cy="0"/>
        </a:xfrm>
      </p:grpSpPr>
      <p:sp>
        <p:nvSpPr>
          <p:cNvPr id="2" name="Shape 0"/>
          <p:cNvSpPr/>
          <p:nvPr/>
        </p:nvSpPr>
        <p:spPr>
          <a:xfrm>
            <a:off x="685800" y="2331720"/>
            <a:ext cx="914400" cy="914400"/>
          </a:xfrm>
          <a:prstGeom prst="ellipse">
            <a:avLst/>
          </a:prstGeom>
          <a:solidFill>
            <a:srgbClr val="DD5A22"/>
          </a:solidFill>
          <a:ln/>
        </p:spPr>
      </p:sp>
      <p:sp>
        <p:nvSpPr>
          <p:cNvPr id="3" name="Text 1"/>
          <p:cNvSpPr txBox="1"/>
          <p:nvPr/>
        </p:nvSpPr>
        <p:spPr>
          <a:xfrm>
            <a:off x="685800" y="23317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3</a:t>
            </a:r>
            <a:endParaRPr lang="en-US" sz="3400" dirty="0"/>
          </a:p>
        </p:txBody>
      </p:sp>
      <p:sp>
        <p:nvSpPr>
          <p:cNvPr id="4" name="Text 2"/>
          <p:cNvSpPr txBox="1"/>
          <p:nvPr/>
        </p:nvSpPr>
        <p:spPr>
          <a:xfrm>
            <a:off x="2057400" y="2148840"/>
            <a:ext cx="941832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Epistemic and aleatoric uncertainty</a:t>
            </a:r>
            <a:endParaRPr lang="en-US" sz="3800" dirty="0"/>
          </a:p>
        </p:txBody>
      </p:sp>
      <p:sp>
        <p:nvSpPr>
          <p:cNvPr id="5" name="Text 3"/>
          <p:cNvSpPr txBox="1"/>
          <p:nvPr/>
        </p:nvSpPr>
        <p:spPr>
          <a:xfrm>
            <a:off x="2057400" y="3246120"/>
            <a:ext cx="8503920" cy="914400"/>
          </a:xfrm>
          <a:prstGeom prst="rect">
            <a:avLst/>
          </a:prstGeom>
          <a:noFill/>
          <a:ln/>
        </p:spPr>
        <p:txBody>
          <a:bodyPr wrap="square" lIns="0" tIns="0" rIns="0" bIns="0" rtlCol="0" anchor="ctr"/>
          <a:lstStyle/>
          <a:p>
            <a:pPr indent="0" marL="0">
              <a:lnSpc>
                <a:spcPct val="125000"/>
              </a:lnSpc>
              <a:buNone/>
            </a:pPr>
            <a:r>
              <a:rPr lang="en-US" sz="1800" dirty="0">
                <a:solidFill>
                  <a:srgbClr val="AFC0D0"/>
                </a:solidFill>
                <a:latin typeface="Calibri" pitchFamily="34" charset="0"/>
                <a:ea typeface="Calibri" pitchFamily="34" charset="-122"/>
                <a:cs typeface="Calibri" pitchFamily="34" charset="-120"/>
              </a:rPr>
              <a:t>Two reasons a prediction can be uncertain, and only one of them is a modelling problem.</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THE DISTINCTION IS NOT ACADEMIC</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It determines what you should do next</a:t>
            </a:r>
            <a:endParaRPr lang="en-US" sz="3000" dirty="0"/>
          </a:p>
        </p:txBody>
      </p:sp>
      <p:sp>
        <p:nvSpPr>
          <p:cNvPr id="4" name="Shape 2"/>
          <p:cNvSpPr/>
          <p:nvPr/>
        </p:nvSpPr>
        <p:spPr>
          <a:xfrm>
            <a:off x="685800" y="1572768"/>
            <a:ext cx="5166360" cy="3703320"/>
          </a:xfrm>
          <a:prstGeom prst="roundRect">
            <a:avLst>
              <a:gd name="adj" fmla="val 1975"/>
            </a:avLst>
          </a:prstGeom>
          <a:solidFill>
            <a:srgbClr val="F2F5F7"/>
          </a:solidFill>
          <a:ln/>
        </p:spPr>
      </p:sp>
      <p:sp>
        <p:nvSpPr>
          <p:cNvPr id="5" name="Shape 3"/>
          <p:cNvSpPr/>
          <p:nvPr/>
        </p:nvSpPr>
        <p:spPr>
          <a:xfrm>
            <a:off x="1005840" y="1828800"/>
            <a:ext cx="365760" cy="365760"/>
          </a:xfrm>
          <a:prstGeom prst="ellipse">
            <a:avLst/>
          </a:prstGeom>
          <a:solidFill>
            <a:srgbClr val="2E74B5"/>
          </a:solidFill>
          <a:ln/>
        </p:spPr>
      </p:sp>
      <p:sp>
        <p:nvSpPr>
          <p:cNvPr id="6" name="Text 4"/>
          <p:cNvSpPr txBox="1"/>
          <p:nvPr/>
        </p:nvSpPr>
        <p:spPr>
          <a:xfrm>
            <a:off x="1527048" y="1792224"/>
            <a:ext cx="4005072" cy="438912"/>
          </a:xfrm>
          <a:prstGeom prst="rect">
            <a:avLst/>
          </a:prstGeom>
          <a:noFill/>
          <a:ln/>
        </p:spPr>
        <p:txBody>
          <a:bodyPr wrap="square" lIns="0" tIns="0" rIns="0" bIns="0" rtlCol="0" anchor="ctr"/>
          <a:lstStyle/>
          <a:p>
            <a:pPr indent="0" marL="0">
              <a:buNone/>
            </a:pPr>
            <a:r>
              <a:rPr lang="en-US" sz="1900" b="1" dirty="0">
                <a:solidFill>
                  <a:srgbClr val="13293D"/>
                </a:solidFill>
                <a:latin typeface="Calibri" pitchFamily="34" charset="0"/>
                <a:ea typeface="Calibri" pitchFamily="34" charset="-122"/>
                <a:cs typeface="Calibri" pitchFamily="34" charset="-120"/>
              </a:rPr>
              <a:t>Epistemic</a:t>
            </a:r>
            <a:endParaRPr lang="en-US" sz="1900" dirty="0"/>
          </a:p>
        </p:txBody>
      </p:sp>
      <p:sp>
        <p:nvSpPr>
          <p:cNvPr id="7" name="Text 5"/>
          <p:cNvSpPr txBox="1"/>
          <p:nvPr/>
        </p:nvSpPr>
        <p:spPr>
          <a:xfrm>
            <a:off x="1005840" y="2377440"/>
            <a:ext cx="4526280" cy="2743200"/>
          </a:xfrm>
          <a:prstGeom prst="rect">
            <a:avLst/>
          </a:prstGeom>
          <a:noFill/>
          <a:ln/>
        </p:spPr>
        <p:txBody>
          <a:bodyPr wrap="square" lIns="0" tIns="0" rIns="0" bIns="0" rtlCol="0" anchor="t"/>
          <a:lstStyle/>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You are unsure about the model, because you have seen few patients like this one.</a:t>
            </a:r>
            <a:endParaRPr lang="en-US" sz="1450" dirty="0"/>
          </a:p>
          <a:p>
            <a:pPr indent="0" marL="0">
              <a:lnSpc>
                <a:spcPct val="122000"/>
              </a:lnSpc>
              <a:buNone/>
            </a:pPr>
            <a:endParaRPr lang="en-US" sz="1450" dirty="0"/>
          </a:p>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Shrinks as you collect more of the same kind of data.</a:t>
            </a:r>
            <a:endParaRPr lang="en-US" sz="1450" dirty="0"/>
          </a:p>
          <a:p>
            <a:pPr indent="0" marL="0">
              <a:lnSpc>
                <a:spcPct val="122000"/>
              </a:lnSpc>
              <a:buNone/>
            </a:pPr>
            <a:endParaRPr lang="en-US" sz="1450" dirty="0"/>
          </a:p>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Response: collect more records. Or refuse to answer for patients outside the region you have covered.</a:t>
            </a:r>
            <a:endParaRPr lang="en-US" sz="1450" dirty="0"/>
          </a:p>
        </p:txBody>
      </p:sp>
      <p:sp>
        <p:nvSpPr>
          <p:cNvPr id="8" name="Shape 6"/>
          <p:cNvSpPr/>
          <p:nvPr/>
        </p:nvSpPr>
        <p:spPr>
          <a:xfrm>
            <a:off x="6309360" y="1572768"/>
            <a:ext cx="5166360" cy="3703320"/>
          </a:xfrm>
          <a:prstGeom prst="roundRect">
            <a:avLst>
              <a:gd name="adj" fmla="val 1975"/>
            </a:avLst>
          </a:prstGeom>
          <a:solidFill>
            <a:srgbClr val="F2F5F7"/>
          </a:solidFill>
          <a:ln/>
        </p:spPr>
      </p:sp>
      <p:sp>
        <p:nvSpPr>
          <p:cNvPr id="9" name="Shape 7"/>
          <p:cNvSpPr/>
          <p:nvPr/>
        </p:nvSpPr>
        <p:spPr>
          <a:xfrm>
            <a:off x="6629400" y="1828800"/>
            <a:ext cx="365760" cy="365760"/>
          </a:xfrm>
          <a:prstGeom prst="ellipse">
            <a:avLst/>
          </a:prstGeom>
          <a:solidFill>
            <a:srgbClr val="DD5A22"/>
          </a:solidFill>
          <a:ln/>
        </p:spPr>
      </p:sp>
      <p:sp>
        <p:nvSpPr>
          <p:cNvPr id="10" name="Text 8"/>
          <p:cNvSpPr txBox="1"/>
          <p:nvPr/>
        </p:nvSpPr>
        <p:spPr>
          <a:xfrm>
            <a:off x="7150608" y="1792224"/>
            <a:ext cx="4005072" cy="438912"/>
          </a:xfrm>
          <a:prstGeom prst="rect">
            <a:avLst/>
          </a:prstGeom>
          <a:noFill/>
          <a:ln/>
        </p:spPr>
        <p:txBody>
          <a:bodyPr wrap="square" lIns="0" tIns="0" rIns="0" bIns="0" rtlCol="0" anchor="ctr"/>
          <a:lstStyle/>
          <a:p>
            <a:pPr indent="0" marL="0">
              <a:buNone/>
            </a:pPr>
            <a:r>
              <a:rPr lang="en-US" sz="1900" b="1" dirty="0">
                <a:solidFill>
                  <a:srgbClr val="13293D"/>
                </a:solidFill>
                <a:latin typeface="Calibri" pitchFamily="34" charset="0"/>
                <a:ea typeface="Calibri" pitchFamily="34" charset="-122"/>
                <a:cs typeface="Calibri" pitchFamily="34" charset="-120"/>
              </a:rPr>
              <a:t>Aleatoric</a:t>
            </a:r>
            <a:endParaRPr lang="en-US" sz="1900" dirty="0"/>
          </a:p>
        </p:txBody>
      </p:sp>
      <p:sp>
        <p:nvSpPr>
          <p:cNvPr id="11" name="Text 9"/>
          <p:cNvSpPr txBox="1"/>
          <p:nvPr/>
        </p:nvSpPr>
        <p:spPr>
          <a:xfrm>
            <a:off x="6629400" y="2377440"/>
            <a:ext cx="4526280" cy="2743200"/>
          </a:xfrm>
          <a:prstGeom prst="rect">
            <a:avLst/>
          </a:prstGeom>
          <a:noFill/>
          <a:ln/>
        </p:spPr>
        <p:txBody>
          <a:bodyPr wrap="square" lIns="0" tIns="0" rIns="0" bIns="0" rtlCol="0" anchor="t"/>
          <a:lstStyle/>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The outcome is genuinely stochastic given everything you recorded. Two identical charts, different outcomes.</a:t>
            </a:r>
            <a:endParaRPr lang="en-US" sz="1450" dirty="0"/>
          </a:p>
          <a:p>
            <a:pPr indent="0" marL="0">
              <a:lnSpc>
                <a:spcPct val="122000"/>
              </a:lnSpc>
              <a:buNone/>
            </a:pPr>
            <a:endParaRPr lang="en-US" sz="1450" dirty="0"/>
          </a:p>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Does not shrink with more of the same data.</a:t>
            </a:r>
            <a:endParaRPr lang="en-US" sz="1450" dirty="0"/>
          </a:p>
          <a:p>
            <a:pPr indent="0" marL="0">
              <a:lnSpc>
                <a:spcPct val="122000"/>
              </a:lnSpc>
              <a:buNone/>
            </a:pPr>
            <a:endParaRPr lang="en-US" sz="1450" dirty="0"/>
          </a:p>
          <a:p>
            <a:pPr indent="0" marL="0">
              <a:lnSpc>
                <a:spcPct val="122000"/>
              </a:lnSpc>
              <a:buNone/>
            </a:pPr>
            <a:r>
              <a:rPr lang="en-US" sz="1450" dirty="0">
                <a:solidFill>
                  <a:srgbClr val="3A4A59"/>
                </a:solidFill>
                <a:latin typeface="Calibri" pitchFamily="34" charset="0"/>
                <a:ea typeface="Calibri" pitchFamily="34" charset="-122"/>
                <a:cs typeface="Calibri" pitchFamily="34" charset="-120"/>
              </a:rPr>
              <a:t>Response: measure something new. No amount of extra rows on the same columns will help.</a:t>
            </a:r>
            <a:endParaRPr lang="en-US" sz="1450" dirty="0"/>
          </a:p>
        </p:txBody>
      </p:sp>
      <p:sp>
        <p:nvSpPr>
          <p:cNvPr id="12" name="Text 10"/>
          <p:cNvSpPr txBox="1"/>
          <p:nvPr/>
        </p:nvSpPr>
        <p:spPr>
          <a:xfrm>
            <a:off x="685800" y="5486400"/>
            <a:ext cx="10789920" cy="914400"/>
          </a:xfrm>
          <a:prstGeom prst="rect">
            <a:avLst/>
          </a:prstGeom>
          <a:noFill/>
          <a:ln/>
        </p:spPr>
        <p:txBody>
          <a:bodyPr wrap="square" lIns="0" tIns="0" rIns="0" bIns="0" rtlCol="0" anchor="ctr"/>
          <a:lstStyle/>
          <a:p>
            <a:pPr indent="0" marL="0">
              <a:lnSpc>
                <a:spcPct val="120000"/>
              </a:lnSpc>
              <a:buNone/>
            </a:pPr>
            <a:r>
              <a:rPr lang="en-US" sz="1650" b="1" dirty="0">
                <a:solidFill>
                  <a:srgbClr val="13293D"/>
                </a:solidFill>
                <a:latin typeface="Calibri" pitchFamily="34" charset="0"/>
                <a:ea typeface="Calibri" pitchFamily="34" charset="-122"/>
                <a:cs typeface="Calibri" pitchFamily="34" charset="-120"/>
              </a:rPr>
              <a:t>Collapse them into one number and you lose the ability to say which response is the right one.</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BOOTSTRAP ENSEMBLE OVER FOUR TRAINING SIZES</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More data removes one of these, not the other</a:t>
            </a:r>
            <a:endParaRPr lang="en-US" sz="3000" dirty="0"/>
          </a:p>
        </p:txBody>
      </p:sp>
      <p:pic>
        <p:nvPicPr>
          <p:cNvPr id="4" name="Image 0" descr="figures/l1_epistemic.png">    </p:cNvPr>
          <p:cNvPicPr>
            <a:picLocks noChangeAspect="1"/>
          </p:cNvPicPr>
          <p:nvPr/>
        </p:nvPicPr>
        <p:blipFill>
          <a:blip r:embed="rId1"/>
          <a:srcRect l="0" r="0" t="0" b="0"/>
          <a:stretch/>
        </p:blipFill>
        <p:spPr>
          <a:xfrm>
            <a:off x="1874520" y="1417320"/>
            <a:ext cx="8412480" cy="3977640"/>
          </a:xfrm>
          <a:prstGeom prst="rect">
            <a:avLst/>
          </a:prstGeom>
        </p:spPr>
      </p:pic>
      <p:sp>
        <p:nvSpPr>
          <p:cNvPr id="5" name="Shape 2"/>
          <p:cNvSpPr/>
          <p:nvPr/>
        </p:nvSpPr>
        <p:spPr>
          <a:xfrm>
            <a:off x="685800" y="5623560"/>
            <a:ext cx="10789920" cy="822960"/>
          </a:xfrm>
          <a:prstGeom prst="rect">
            <a:avLst/>
          </a:prstGeom>
          <a:solidFill>
            <a:srgbClr val="F2F5F7"/>
          </a:solidFill>
          <a:ln/>
        </p:spPr>
      </p:sp>
      <p:sp>
        <p:nvSpPr>
          <p:cNvPr id="6" name="Text 3"/>
          <p:cNvSpPr txBox="1"/>
          <p:nvPr/>
        </p:nvSpPr>
        <p:spPr>
          <a:xfrm>
            <a:off x="960120" y="5623560"/>
            <a:ext cx="10241280" cy="822960"/>
          </a:xfrm>
          <a:prstGeom prst="rect">
            <a:avLst/>
          </a:prstGeom>
          <a:noFill/>
          <a:ln/>
        </p:spPr>
        <p:txBody>
          <a:bodyPr wrap="square" lIns="0" tIns="0" rIns="0" bIns="0" rtlCol="0" anchor="ctr"/>
          <a:lstStyle/>
          <a:p>
            <a:pPr indent="0" marL="0">
              <a:lnSpc>
                <a:spcPct val="115000"/>
              </a:lnSpc>
              <a:buNone/>
            </a:pPr>
            <a:r>
              <a:rPr lang="en-US" sz="1550" dirty="0">
                <a:solidFill>
                  <a:srgbClr val="3A4A59"/>
                </a:solidFill>
                <a:latin typeface="Calibri" pitchFamily="34" charset="0"/>
                <a:ea typeface="Calibri" pitchFamily="34" charset="-122"/>
                <a:cs typeface="Calibri" pitchFamily="34" charset="-120"/>
              </a:rPr>
              <a:t>Bootstrap spread - our proxy for epistemic uncertainty - falls steadily from 250 to 16,000 training patients. The aleatoric term barely moves; it is a property of the cohort, not of your sample size.</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THE ALEATORIC FLOOR, MADE VISIBLE</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The gap to a perfect model was never in your columns</a:t>
            </a:r>
            <a:endParaRPr lang="en-US" sz="3000" dirty="0"/>
          </a:p>
        </p:txBody>
      </p:sp>
      <p:pic>
        <p:nvPicPr>
          <p:cNvPr id="4" name="Image 0" descr="figures/l1_ceiling.png">    </p:cNvPr>
          <p:cNvPicPr>
            <a:picLocks noChangeAspect="1"/>
          </p:cNvPicPr>
          <p:nvPr/>
        </p:nvPicPr>
        <p:blipFill>
          <a:blip r:embed="rId1"/>
          <a:srcRect l="0" r="0" t="0" b="0"/>
          <a:stretch/>
        </p:blipFill>
        <p:spPr>
          <a:xfrm>
            <a:off x="685800" y="1600200"/>
            <a:ext cx="6858000" cy="3840480"/>
          </a:xfrm>
          <a:prstGeom prst="rect">
            <a:avLst/>
          </a:prstGeom>
        </p:spPr>
      </p:pic>
      <p:sp>
        <p:nvSpPr>
          <p:cNvPr id="5" name="Shape 2"/>
          <p:cNvSpPr/>
          <p:nvPr/>
        </p:nvSpPr>
        <p:spPr>
          <a:xfrm>
            <a:off x="7818120" y="1764792"/>
            <a:ext cx="310896" cy="310896"/>
          </a:xfrm>
          <a:prstGeom prst="ellipse">
            <a:avLst/>
          </a:prstGeom>
          <a:solidFill>
            <a:srgbClr val="2E74B5"/>
          </a:solidFill>
          <a:ln/>
        </p:spPr>
      </p:sp>
      <p:sp>
        <p:nvSpPr>
          <p:cNvPr id="6" name="Text 3"/>
          <p:cNvSpPr txBox="1"/>
          <p:nvPr/>
        </p:nvSpPr>
        <p:spPr>
          <a:xfrm>
            <a:off x="7818120" y="17647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4"/>
          <p:cNvSpPr txBox="1"/>
          <p:nvPr/>
        </p:nvSpPr>
        <p:spPr>
          <a:xfrm>
            <a:off x="8275320" y="1719072"/>
            <a:ext cx="3200400" cy="310896"/>
          </a:xfrm>
          <a:prstGeom prst="rect">
            <a:avLst/>
          </a:prstGeom>
          <a:noFill/>
          <a:ln/>
        </p:spPr>
        <p:txBody>
          <a:bodyPr wrap="square" lIns="0" tIns="0" rIns="0" bIns="0" rtlCol="0" anchor="ctr"/>
          <a:lstStyle/>
          <a:p>
            <a:pPr indent="0" marL="0">
              <a:buNone/>
            </a:pPr>
            <a:r>
              <a:rPr lang="en-US" sz="1550" b="1" dirty="0">
                <a:solidFill>
                  <a:srgbClr val="13293D"/>
                </a:solidFill>
                <a:latin typeface="Calibri" pitchFamily="34" charset="0"/>
                <a:ea typeface="Calibri" pitchFamily="34" charset="-122"/>
                <a:cs typeface="Calibri" pitchFamily="34" charset="-120"/>
              </a:rPr>
              <a:t>An unrecorded impression</a:t>
            </a:r>
            <a:endParaRPr lang="en-US" sz="1550" dirty="0"/>
          </a:p>
        </p:txBody>
      </p:sp>
      <p:sp>
        <p:nvSpPr>
          <p:cNvPr id="8" name="Text 5"/>
          <p:cNvSpPr txBox="1"/>
          <p:nvPr/>
        </p:nvSpPr>
        <p:spPr>
          <a:xfrm>
            <a:off x="8275320" y="2048256"/>
            <a:ext cx="3200400" cy="960120"/>
          </a:xfrm>
          <a:prstGeom prst="rect">
            <a:avLst/>
          </a:prstGeom>
          <a:noFill/>
          <a:ln/>
        </p:spPr>
        <p:txBody>
          <a:bodyPr wrap="square" lIns="0" tIns="0" rIns="0" bIns="0" rtlCol="0" anchor="t"/>
          <a:lstStyle/>
          <a:p>
            <a:pPr indent="0" marL="0">
              <a:lnSpc>
                <a:spcPct val="116000"/>
              </a:lnSpc>
              <a:buNone/>
            </a:pPr>
            <a:r>
              <a:rPr lang="en-US" sz="1350" dirty="0">
                <a:solidFill>
                  <a:srgbClr val="3A4A59"/>
                </a:solidFill>
                <a:latin typeface="Calibri" pitchFamily="34" charset="0"/>
                <a:ea typeface="Calibri" pitchFamily="34" charset="-122"/>
                <a:cs typeface="Calibri" pitchFamily="34" charset="-120"/>
              </a:rPr>
              <a:t>The simulator holds a clinical-concern variable that moves the outcome and appears in no column - exactly like the thing the nurse noticed at the bedside.</a:t>
            </a:r>
            <a:endParaRPr lang="en-US" sz="1350" dirty="0"/>
          </a:p>
        </p:txBody>
      </p:sp>
      <p:sp>
        <p:nvSpPr>
          <p:cNvPr id="9" name="Shape 6"/>
          <p:cNvSpPr/>
          <p:nvPr/>
        </p:nvSpPr>
        <p:spPr>
          <a:xfrm>
            <a:off x="7818120" y="3154680"/>
            <a:ext cx="310896" cy="310896"/>
          </a:xfrm>
          <a:prstGeom prst="ellipse">
            <a:avLst/>
          </a:prstGeom>
          <a:solidFill>
            <a:srgbClr val="DD5A22"/>
          </a:solidFill>
          <a:ln/>
        </p:spPr>
      </p:sp>
      <p:sp>
        <p:nvSpPr>
          <p:cNvPr id="10" name="Text 7"/>
          <p:cNvSpPr txBox="1"/>
          <p:nvPr/>
        </p:nvSpPr>
        <p:spPr>
          <a:xfrm>
            <a:off x="7818120" y="31546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8"/>
          <p:cNvSpPr txBox="1"/>
          <p:nvPr/>
        </p:nvSpPr>
        <p:spPr>
          <a:xfrm>
            <a:off x="8275320" y="3108960"/>
            <a:ext cx="3200400" cy="310896"/>
          </a:xfrm>
          <a:prstGeom prst="rect">
            <a:avLst/>
          </a:prstGeom>
          <a:noFill/>
          <a:ln/>
        </p:spPr>
        <p:txBody>
          <a:bodyPr wrap="square" lIns="0" tIns="0" rIns="0" bIns="0" rtlCol="0" anchor="ctr"/>
          <a:lstStyle/>
          <a:p>
            <a:pPr indent="0" marL="0">
              <a:buNone/>
            </a:pPr>
            <a:r>
              <a:rPr lang="en-US" sz="1550" b="1" dirty="0">
                <a:solidFill>
                  <a:srgbClr val="13293D"/>
                </a:solidFill>
                <a:latin typeface="Calibri" pitchFamily="34" charset="0"/>
                <a:ea typeface="Calibri" pitchFamily="34" charset="-122"/>
                <a:cs typeface="Calibri" pitchFamily="34" charset="-120"/>
              </a:rPr>
              <a:t>Our model is at the ceiling</a:t>
            </a:r>
            <a:endParaRPr lang="en-US" sz="1550" dirty="0"/>
          </a:p>
        </p:txBody>
      </p:sp>
      <p:sp>
        <p:nvSpPr>
          <p:cNvPr id="12" name="Text 9"/>
          <p:cNvSpPr txBox="1"/>
          <p:nvPr/>
        </p:nvSpPr>
        <p:spPr>
          <a:xfrm>
            <a:off x="8275320" y="3438144"/>
            <a:ext cx="3200400" cy="960120"/>
          </a:xfrm>
          <a:prstGeom prst="rect">
            <a:avLst/>
          </a:prstGeom>
          <a:noFill/>
          <a:ln/>
        </p:spPr>
        <p:txBody>
          <a:bodyPr wrap="square" lIns="0" tIns="0" rIns="0" bIns="0" rtlCol="0" anchor="t"/>
          <a:lstStyle/>
          <a:p>
            <a:pPr indent="0" marL="0">
              <a:lnSpc>
                <a:spcPct val="116000"/>
              </a:lnSpc>
              <a:buNone/>
            </a:pPr>
            <a:r>
              <a:rPr lang="en-US" sz="1350" dirty="0">
                <a:solidFill>
                  <a:srgbClr val="3A4A59"/>
                </a:solidFill>
                <a:latin typeface="Calibri" pitchFamily="34" charset="0"/>
                <a:ea typeface="Calibri" pitchFamily="34" charset="-122"/>
                <a:cs typeface="Calibri" pitchFamily="34" charset="-120"/>
              </a:rPr>
              <a:t>0.719 fitted against a 0.725 ceiling on the recorded features. There is almost nothing left to extract from these columns.</a:t>
            </a:r>
            <a:endParaRPr lang="en-US" sz="1350" dirty="0"/>
          </a:p>
        </p:txBody>
      </p:sp>
      <p:sp>
        <p:nvSpPr>
          <p:cNvPr id="13" name="Shape 10"/>
          <p:cNvSpPr/>
          <p:nvPr/>
        </p:nvSpPr>
        <p:spPr>
          <a:xfrm>
            <a:off x="7818120" y="4544568"/>
            <a:ext cx="310896" cy="310896"/>
          </a:xfrm>
          <a:prstGeom prst="ellipse">
            <a:avLst/>
          </a:prstGeom>
          <a:solidFill>
            <a:srgbClr val="0E8F6E"/>
          </a:solidFill>
          <a:ln/>
        </p:spPr>
      </p:sp>
      <p:sp>
        <p:nvSpPr>
          <p:cNvPr id="14" name="Text 11"/>
          <p:cNvSpPr txBox="1"/>
          <p:nvPr/>
        </p:nvSpPr>
        <p:spPr>
          <a:xfrm>
            <a:off x="7818120" y="454456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txBox="1"/>
          <p:nvPr/>
        </p:nvSpPr>
        <p:spPr>
          <a:xfrm>
            <a:off x="8275320" y="4498848"/>
            <a:ext cx="3200400" cy="310896"/>
          </a:xfrm>
          <a:prstGeom prst="rect">
            <a:avLst/>
          </a:prstGeom>
          <a:noFill/>
          <a:ln/>
        </p:spPr>
        <p:txBody>
          <a:bodyPr wrap="square" lIns="0" tIns="0" rIns="0" bIns="0" rtlCol="0" anchor="ctr"/>
          <a:lstStyle/>
          <a:p>
            <a:pPr indent="0" marL="0">
              <a:buNone/>
            </a:pPr>
            <a:r>
              <a:rPr lang="en-US" sz="1550" b="1" dirty="0">
                <a:solidFill>
                  <a:srgbClr val="13293D"/>
                </a:solidFill>
                <a:latin typeface="Calibri" pitchFamily="34" charset="0"/>
                <a:ea typeface="Calibri" pitchFamily="34" charset="-122"/>
                <a:cs typeface="Calibri" pitchFamily="34" charset="-120"/>
              </a:rPr>
              <a:t>Not a deeper network</a:t>
            </a:r>
            <a:endParaRPr lang="en-US" sz="1550" dirty="0"/>
          </a:p>
        </p:txBody>
      </p:sp>
      <p:sp>
        <p:nvSpPr>
          <p:cNvPr id="16" name="Text 13"/>
          <p:cNvSpPr txBox="1"/>
          <p:nvPr/>
        </p:nvSpPr>
        <p:spPr>
          <a:xfrm>
            <a:off x="8275320" y="4828032"/>
            <a:ext cx="3200400" cy="960120"/>
          </a:xfrm>
          <a:prstGeom prst="rect">
            <a:avLst/>
          </a:prstGeom>
          <a:noFill/>
          <a:ln/>
        </p:spPr>
        <p:txBody>
          <a:bodyPr wrap="square" lIns="0" tIns="0" rIns="0" bIns="0" rtlCol="0" anchor="t"/>
          <a:lstStyle/>
          <a:p>
            <a:pPr indent="0" marL="0">
              <a:lnSpc>
                <a:spcPct val="116000"/>
              </a:lnSpc>
              <a:buNone/>
            </a:pPr>
            <a:r>
              <a:rPr lang="en-US" sz="1350" dirty="0">
                <a:solidFill>
                  <a:srgbClr val="3A4A59"/>
                </a:solidFill>
                <a:latin typeface="Calibri" pitchFamily="34" charset="0"/>
                <a:ea typeface="Calibri" pitchFamily="34" charset="-122"/>
                <a:cs typeface="Calibri" pitchFamily="34" charset="-120"/>
              </a:rPr>
              <a:t>Moving the ceiling means recording something new. When a reviewer asks why AUROC is not 0.90, that is a claim about the data, not an apology.</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93D"/>
        </a:solidFill>
      </p:bgPr>
    </p:bg>
    <p:spTree>
      <p:nvGrpSpPr>
        <p:cNvPr id="1" name=""/>
        <p:cNvGrpSpPr/>
        <p:nvPr/>
      </p:nvGrpSpPr>
      <p:grpSpPr>
        <a:xfrm>
          <a:off x="0" y="0"/>
          <a:ext cx="0" cy="0"/>
          <a:chOff x="0" y="0"/>
          <a:chExt cx="0" cy="0"/>
        </a:xfrm>
      </p:grpSpPr>
      <p:sp>
        <p:nvSpPr>
          <p:cNvPr id="2" name="Shape 0"/>
          <p:cNvSpPr/>
          <p:nvPr/>
        </p:nvSpPr>
        <p:spPr>
          <a:xfrm>
            <a:off x="685800" y="2331720"/>
            <a:ext cx="914400" cy="914400"/>
          </a:xfrm>
          <a:prstGeom prst="ellipse">
            <a:avLst/>
          </a:prstGeom>
          <a:solidFill>
            <a:srgbClr val="DD5A22"/>
          </a:solidFill>
          <a:ln/>
        </p:spPr>
      </p:sp>
      <p:sp>
        <p:nvSpPr>
          <p:cNvPr id="3" name="Text 1"/>
          <p:cNvSpPr txBox="1"/>
          <p:nvPr/>
        </p:nvSpPr>
        <p:spPr>
          <a:xfrm>
            <a:off x="685800" y="23317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4</a:t>
            </a:r>
            <a:endParaRPr lang="en-US" sz="3400" dirty="0"/>
          </a:p>
        </p:txBody>
      </p:sp>
      <p:sp>
        <p:nvSpPr>
          <p:cNvPr id="4" name="Text 2"/>
          <p:cNvSpPr txBox="1"/>
          <p:nvPr/>
        </p:nvSpPr>
        <p:spPr>
          <a:xfrm>
            <a:off x="2057400" y="2148840"/>
            <a:ext cx="941832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 synthetic EHR you can break on purpose</a:t>
            </a:r>
            <a:endParaRPr lang="en-US" sz="3800" dirty="0"/>
          </a:p>
        </p:txBody>
      </p:sp>
      <p:sp>
        <p:nvSpPr>
          <p:cNvPr id="5" name="Text 3"/>
          <p:cNvSpPr txBox="1"/>
          <p:nvPr/>
        </p:nvSpPr>
        <p:spPr>
          <a:xfrm>
            <a:off x="2057400" y="3246120"/>
            <a:ext cx="8503920" cy="914400"/>
          </a:xfrm>
          <a:prstGeom prst="rect">
            <a:avLst/>
          </a:prstGeom>
          <a:noFill/>
          <a:ln/>
        </p:spPr>
        <p:txBody>
          <a:bodyPr wrap="square" lIns="0" tIns="0" rIns="0" bIns="0" rtlCol="0" anchor="ctr"/>
          <a:lstStyle/>
          <a:p>
            <a:pPr indent="0" marL="0">
              <a:lnSpc>
                <a:spcPct val="125000"/>
              </a:lnSpc>
              <a:buNone/>
            </a:pPr>
            <a:r>
              <a:rPr lang="en-US" sz="1800" dirty="0">
                <a:solidFill>
                  <a:srgbClr val="AFC0D0"/>
                </a:solidFill>
                <a:latin typeface="Calibri" pitchFamily="34" charset="0"/>
                <a:ea typeface="Calibri" pitchFamily="34" charset="-122"/>
                <a:cs typeface="Calibri" pitchFamily="34" charset="-120"/>
              </a:rPr>
              <a:t>Vitals, labs, comorbidities and a 48-hour deterioration outcome. Every failure mode is a named argument.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THE SIMULATOR'S FAILURE-MODE KNOBS</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Turn one on, watch what it does, turn it off</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10789920" cy="914400"/>
        </p:xfrm>
        <a:graphic>
          <a:graphicData uri="http://schemas.openxmlformats.org/drawingml/2006/table">
            <a:tbl>
              <a:tblPr/>
              <a:tblGrid>
                <a:gridCol w="3291840"/>
                <a:gridCol w="7498080"/>
              </a:tblGrid>
              <a:tr h="47548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Argument</a:t>
                      </a:r>
                      <a:endParaRPr lang="en-US" sz="150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1F3F5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it represents in a hospital</a:t>
                      </a:r>
                      <a:endParaRPr lang="en-US" sz="150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1F3F5C"/>
                    </a:solidFill>
                  </a:tcPr>
                </a:tc>
              </a:tr>
              <a:tr h="475488">
                <a:tc>
                  <a:txBody>
                    <a:bodyPr/>
                    <a:lstStyle/>
                    <a:p>
                      <a:pPr indent="0" marL="0">
                        <a:buNone/>
                      </a:pPr>
                      <a:r>
                        <a:rPr lang="en-US" sz="1450" b="1" dirty="0">
                          <a:solidFill>
                            <a:srgbClr val="13293D"/>
                          </a:solidFill>
                          <a:latin typeface="Calibri" pitchFamily="34" charset="0"/>
                          <a:ea typeface="Calibri" pitchFamily="34" charset="-122"/>
                          <a:cs typeface="Calibri" pitchFamily="34" charset="-120"/>
                        </a:rPr>
                        <a:t>prevalence_shift</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Baseline risk differs between hospitals</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r>
              <a:tr h="475488">
                <a:tc>
                  <a:txBody>
                    <a:bodyPr/>
                    <a:lstStyle/>
                    <a:p>
                      <a:pPr indent="0" marL="0">
                        <a:buNone/>
                      </a:pPr>
                      <a:r>
                        <a:rPr lang="en-US" sz="1450" b="1" dirty="0">
                          <a:solidFill>
                            <a:srgbClr val="13293D"/>
                          </a:solidFill>
                          <a:latin typeface="Calibri" pitchFamily="34" charset="0"/>
                          <a:ea typeface="Calibri" pitchFamily="34" charset="-122"/>
                          <a:cs typeface="Calibri" pitchFamily="34" charset="-120"/>
                        </a:rPr>
                        <a:t>measurement_noise</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Instruments and assays drift</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r>
              <a:tr h="475488">
                <a:tc>
                  <a:txBody>
                    <a:bodyPr/>
                    <a:lstStyle/>
                    <a:p>
                      <a:pPr indent="0" marL="0">
                        <a:buNone/>
                      </a:pPr>
                      <a:r>
                        <a:rPr lang="en-US" sz="1450" b="1" dirty="0">
                          <a:solidFill>
                            <a:srgbClr val="13293D"/>
                          </a:solidFill>
                          <a:latin typeface="Calibri" pitchFamily="34" charset="0"/>
                          <a:ea typeface="Calibri" pitchFamily="34" charset="-122"/>
                          <a:cs typeface="Calibri" pitchFamily="34" charset="-120"/>
                        </a:rPr>
                        <a:t>missingness_strength</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Labs get ordered for a reason</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r>
              <a:tr h="475488">
                <a:tc>
                  <a:txBody>
                    <a:bodyPr/>
                    <a:lstStyle/>
                    <a:p>
                      <a:pPr indent="0" marL="0">
                        <a:buNone/>
                      </a:pPr>
                      <a:r>
                        <a:rPr lang="en-US" sz="1450" b="1" dirty="0">
                          <a:solidFill>
                            <a:srgbClr val="13293D"/>
                          </a:solidFill>
                          <a:latin typeface="Calibri" pitchFamily="34" charset="0"/>
                          <a:ea typeface="Calibri" pitchFamily="34" charset="-122"/>
                          <a:cs typeface="Calibri" pitchFamily="34" charset="-120"/>
                        </a:rPr>
                        <a:t>label_noise</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Chart review is imperfect</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r>
              <a:tr h="475488">
                <a:tc>
                  <a:txBody>
                    <a:bodyPr/>
                    <a:lstStyle/>
                    <a:p>
                      <a:pPr indent="0" marL="0">
                        <a:buNone/>
                      </a:pPr>
                      <a:r>
                        <a:rPr lang="en-US" sz="1450" b="1" dirty="0">
                          <a:solidFill>
                            <a:srgbClr val="13293D"/>
                          </a:solidFill>
                          <a:latin typeface="Calibri" pitchFamily="34" charset="0"/>
                          <a:ea typeface="Calibri" pitchFamily="34" charset="-122"/>
                          <a:cs typeface="Calibri" pitchFamily="34" charset="-120"/>
                        </a:rPr>
                        <a:t>subgroup_shift</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A subgroup carries different baseline risk</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r>
              <a:tr h="475488">
                <a:tc>
                  <a:txBody>
                    <a:bodyPr/>
                    <a:lstStyle/>
                    <a:p>
                      <a:pPr indent="0" marL="0">
                        <a:buNone/>
                      </a:pPr>
                      <a:r>
                        <a:rPr lang="en-US" sz="1450" b="1" dirty="0">
                          <a:solidFill>
                            <a:srgbClr val="13293D"/>
                          </a:solidFill>
                          <a:latin typeface="Calibri" pitchFamily="34" charset="0"/>
                          <a:ea typeface="Calibri" pitchFamily="34" charset="-122"/>
                          <a:cs typeface="Calibri" pitchFamily="34" charset="-120"/>
                        </a:rPr>
                        <a:t>subgroup_interaction</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...or a different risk relationship entirely</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2F5F7"/>
                    </a:solidFill>
                  </a:tcPr>
                </a:tc>
              </a:tr>
              <a:tr h="475488">
                <a:tc>
                  <a:txBody>
                    <a:bodyPr/>
                    <a:lstStyle/>
                    <a:p>
                      <a:pPr indent="0" marL="0">
                        <a:buNone/>
                      </a:pPr>
                      <a:r>
                        <a:rPr lang="en-US" sz="1450" b="1" dirty="0">
                          <a:solidFill>
                            <a:srgbClr val="13293D"/>
                          </a:solidFill>
                          <a:latin typeface="Calibri" pitchFamily="34" charset="0"/>
                          <a:ea typeface="Calibri" pitchFamily="34" charset="-122"/>
                          <a:cs typeface="Calibri" pitchFamily="34" charset="-120"/>
                        </a:rPr>
                        <a:t>ood_fraction</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450" dirty="0">
                          <a:solidFill>
                            <a:srgbClr val="3A4A59"/>
                          </a:solidFill>
                          <a:latin typeface="Calibri" pitchFamily="34" charset="0"/>
                          <a:ea typeface="Calibri" pitchFamily="34" charset="-122"/>
                          <a:cs typeface="Calibri" pitchFamily="34" charset="-120"/>
                        </a:rPr>
                        <a:t>Patients unlike anything in development</a:t>
                      </a:r>
                      <a:endParaRPr lang="en-US" sz="1450" dirty="0">
                        <a:latin typeface="Calibri" charset="0"/>
                        <a:ea typeface="Calibri" charset="0"/>
                        <a:cs typeface="Calibri" charset="0"/>
                      </a:endParaRPr>
                    </a:p>
                  </a:txBody>
                  <a:tcPr marL="82296" marR="82296" marT="82296" marB="82296" anchor="ctr">
                    <a:lnL w="12700" cap="flat" cmpd="sng" algn="ctr">
                      <a:solidFill>
                        <a:srgbClr val="DCE1E6"/>
                      </a:solidFill>
                      <a:prstDash val="solid"/>
                      <a:round/>
                      <a:headEnd type="none" w="med" len="med"/>
                      <a:tailEnd type="none" w="med" len="med"/>
                    </a:lnL>
                    <a:lnR w="12700" cap="flat" cmpd="sng" algn="ctr">
                      <a:solidFill>
                        <a:srgbClr val="DCE1E6"/>
                      </a:solidFill>
                      <a:prstDash val="solid"/>
                      <a:round/>
                      <a:headEnd type="none" w="med" len="med"/>
                      <a:tailEnd type="none" w="med" len="med"/>
                    </a:lnR>
                    <a:lnT w="12700" cap="flat" cmpd="sng" algn="ctr">
                      <a:solidFill>
                        <a:srgbClr val="DCE1E6"/>
                      </a:solidFill>
                      <a:prstDash val="solid"/>
                      <a:round/>
                      <a:headEnd type="none" w="med" len="med"/>
                      <a:tailEnd type="none" w="med" len="med"/>
                    </a:lnT>
                    <a:lnB w="12700" cap="flat" cmpd="sng" algn="ctr">
                      <a:solidFill>
                        <a:srgbClr val="DCE1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623560"/>
            <a:ext cx="10789920" cy="822960"/>
          </a:xfrm>
          <a:prstGeom prst="rect">
            <a:avLst/>
          </a:prstGeom>
          <a:noFill/>
          <a:ln/>
        </p:spPr>
        <p:txBody>
          <a:bodyPr wrap="square" lIns="0" tIns="0" rIns="0" bIns="0" rtlCol="0" anchor="ctr"/>
          <a:lstStyle/>
          <a:p>
            <a:pPr indent="0" marL="0">
              <a:lnSpc>
                <a:spcPct val="120000"/>
              </a:lnSpc>
              <a:buNone/>
            </a:pPr>
            <a:r>
              <a:rPr lang="en-US" sz="1550" dirty="0">
                <a:solidFill>
                  <a:srgbClr val="3A4A59"/>
                </a:solidFill>
                <a:latin typeface="Calibri" pitchFamily="34" charset="0"/>
                <a:ea typeface="Calibri" pitchFamily="34" charset="-122"/>
                <a:cs typeface="Calibri" pitchFamily="34" charset="-120"/>
              </a:rPr>
              <a:t>Each of the six becomes one team's hidden problem in the project block this afternoon.</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THE ROW THAT GETS REPORTED IN A PAPER</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A respectable internal validation - with an interval on it</a:t>
            </a:r>
            <a:endParaRPr lang="en-US" sz="3000" dirty="0"/>
          </a:p>
        </p:txBody>
      </p:sp>
      <p:sp>
        <p:nvSpPr>
          <p:cNvPr id="4" name="Shape 2"/>
          <p:cNvSpPr/>
          <p:nvPr/>
        </p:nvSpPr>
        <p:spPr>
          <a:xfrm>
            <a:off x="685800" y="1828800"/>
            <a:ext cx="3383280" cy="2514600"/>
          </a:xfrm>
          <a:prstGeom prst="roundRect">
            <a:avLst>
              <a:gd name="adj" fmla="val 2909"/>
            </a:avLst>
          </a:prstGeom>
          <a:solidFill>
            <a:srgbClr val="F2F5F7"/>
          </a:solidFill>
          <a:ln/>
        </p:spPr>
      </p:sp>
      <p:sp>
        <p:nvSpPr>
          <p:cNvPr id="5" name="Text 3"/>
          <p:cNvSpPr txBox="1"/>
          <p:nvPr/>
        </p:nvSpPr>
        <p:spPr>
          <a:xfrm>
            <a:off x="868680" y="2103120"/>
            <a:ext cx="3017520" cy="1005840"/>
          </a:xfrm>
          <a:prstGeom prst="rect">
            <a:avLst/>
          </a:prstGeom>
          <a:noFill/>
          <a:ln/>
        </p:spPr>
        <p:txBody>
          <a:bodyPr wrap="square" lIns="0" tIns="0" rIns="0" bIns="0" rtlCol="0" anchor="ctr"/>
          <a:lstStyle/>
          <a:p>
            <a:pPr algn="ctr" indent="0" marL="0">
              <a:buNone/>
            </a:pPr>
            <a:r>
              <a:rPr lang="en-US" sz="4600" b="1" dirty="0">
                <a:solidFill>
                  <a:srgbClr val="2E74B5"/>
                </a:solidFill>
                <a:latin typeface="Cambria" pitchFamily="34" charset="0"/>
                <a:ea typeface="Cambria" pitchFamily="34" charset="-122"/>
                <a:cs typeface="Cambria" pitchFamily="34" charset="-120"/>
              </a:rPr>
              <a:t>0.727</a:t>
            </a:r>
            <a:endParaRPr lang="en-US" sz="4600" dirty="0"/>
          </a:p>
        </p:txBody>
      </p:sp>
      <p:sp>
        <p:nvSpPr>
          <p:cNvPr id="6" name="Text 4"/>
          <p:cNvSpPr txBox="1"/>
          <p:nvPr/>
        </p:nvSpPr>
        <p:spPr>
          <a:xfrm>
            <a:off x="868680" y="3154680"/>
            <a:ext cx="3017520" cy="1051560"/>
          </a:xfrm>
          <a:prstGeom prst="rect">
            <a:avLst/>
          </a:prstGeom>
          <a:noFill/>
          <a:ln/>
        </p:spPr>
        <p:txBody>
          <a:bodyPr wrap="square" lIns="0" tIns="0" rIns="0" bIns="0" rtlCol="0" anchor="t"/>
          <a:lstStyle/>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Validation AUROC</a:t>
            </a:r>
            <a:endParaRPr lang="en-US" sz="1500" dirty="0"/>
          </a:p>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the number that gets published</a:t>
            </a:r>
            <a:endParaRPr lang="en-US" sz="1500" dirty="0"/>
          </a:p>
        </p:txBody>
      </p:sp>
      <p:sp>
        <p:nvSpPr>
          <p:cNvPr id="7" name="Shape 5"/>
          <p:cNvSpPr/>
          <p:nvPr/>
        </p:nvSpPr>
        <p:spPr>
          <a:xfrm>
            <a:off x="4389120" y="1828800"/>
            <a:ext cx="3383280" cy="2514600"/>
          </a:xfrm>
          <a:prstGeom prst="roundRect">
            <a:avLst>
              <a:gd name="adj" fmla="val 2909"/>
            </a:avLst>
          </a:prstGeom>
          <a:solidFill>
            <a:srgbClr val="F2F5F7"/>
          </a:solidFill>
          <a:ln/>
        </p:spPr>
      </p:sp>
      <p:sp>
        <p:nvSpPr>
          <p:cNvPr id="8" name="Text 6"/>
          <p:cNvSpPr txBox="1"/>
          <p:nvPr/>
        </p:nvSpPr>
        <p:spPr>
          <a:xfrm>
            <a:off x="4572000" y="2103120"/>
            <a:ext cx="3017520" cy="1005840"/>
          </a:xfrm>
          <a:prstGeom prst="rect">
            <a:avLst/>
          </a:prstGeom>
          <a:noFill/>
          <a:ln/>
        </p:spPr>
        <p:txBody>
          <a:bodyPr wrap="square" lIns="0" tIns="0" rIns="0" bIns="0" rtlCol="0" anchor="ctr"/>
          <a:lstStyle/>
          <a:p>
            <a:pPr algn="ctr" indent="0" marL="0">
              <a:buNone/>
            </a:pPr>
            <a:r>
              <a:rPr lang="en-US" sz="3400" b="1" dirty="0">
                <a:solidFill>
                  <a:srgbClr val="DD5A22"/>
                </a:solidFill>
                <a:latin typeface="Cambria" pitchFamily="34" charset="0"/>
                <a:ea typeface="Cambria" pitchFamily="34" charset="-122"/>
                <a:cs typeface="Cambria" pitchFamily="34" charset="-120"/>
              </a:rPr>
              <a:t>0.699 - 0.754</a:t>
            </a:r>
            <a:endParaRPr lang="en-US" sz="3400" dirty="0"/>
          </a:p>
        </p:txBody>
      </p:sp>
      <p:sp>
        <p:nvSpPr>
          <p:cNvPr id="9" name="Text 7"/>
          <p:cNvSpPr txBox="1"/>
          <p:nvPr/>
        </p:nvSpPr>
        <p:spPr>
          <a:xfrm>
            <a:off x="4572000" y="3154680"/>
            <a:ext cx="3017520" cy="1051560"/>
          </a:xfrm>
          <a:prstGeom prst="rect">
            <a:avLst/>
          </a:prstGeom>
          <a:noFill/>
          <a:ln/>
        </p:spPr>
        <p:txBody>
          <a:bodyPr wrap="square" lIns="0" tIns="0" rIns="0" bIns="0" rtlCol="0" anchor="t"/>
          <a:lstStyle/>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95% bootstrap interval</a:t>
            </a:r>
            <a:endParaRPr lang="en-US" sz="1500" dirty="0"/>
          </a:p>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on 2400 patients</a:t>
            </a:r>
            <a:endParaRPr lang="en-US" sz="1500" dirty="0"/>
          </a:p>
        </p:txBody>
      </p:sp>
      <p:sp>
        <p:nvSpPr>
          <p:cNvPr id="10" name="Shape 8"/>
          <p:cNvSpPr/>
          <p:nvPr/>
        </p:nvSpPr>
        <p:spPr>
          <a:xfrm>
            <a:off x="8092440" y="1828800"/>
            <a:ext cx="3383280" cy="2514600"/>
          </a:xfrm>
          <a:prstGeom prst="roundRect">
            <a:avLst>
              <a:gd name="adj" fmla="val 2909"/>
            </a:avLst>
          </a:prstGeom>
          <a:solidFill>
            <a:srgbClr val="F2F5F7"/>
          </a:solidFill>
          <a:ln/>
        </p:spPr>
      </p:sp>
      <p:sp>
        <p:nvSpPr>
          <p:cNvPr id="11" name="Text 9"/>
          <p:cNvSpPr txBox="1"/>
          <p:nvPr/>
        </p:nvSpPr>
        <p:spPr>
          <a:xfrm>
            <a:off x="8275320" y="2103120"/>
            <a:ext cx="3017520" cy="1005840"/>
          </a:xfrm>
          <a:prstGeom prst="rect">
            <a:avLst/>
          </a:prstGeom>
          <a:noFill/>
          <a:ln/>
        </p:spPr>
        <p:txBody>
          <a:bodyPr wrap="square" lIns="0" tIns="0" rIns="0" bIns="0" rtlCol="0" anchor="ctr"/>
          <a:lstStyle/>
          <a:p>
            <a:pPr algn="ctr" indent="0" marL="0">
              <a:buNone/>
            </a:pPr>
            <a:r>
              <a:rPr lang="en-US" sz="4600" b="1" dirty="0">
                <a:solidFill>
                  <a:srgbClr val="0E8F6E"/>
                </a:solidFill>
                <a:latin typeface="Cambria" pitchFamily="34" charset="0"/>
                <a:ea typeface="Cambria" pitchFamily="34" charset="-122"/>
                <a:cs typeface="Cambria" pitchFamily="34" charset="-120"/>
              </a:rPr>
              <a:t>0.056</a:t>
            </a:r>
            <a:endParaRPr lang="en-US" sz="4600" dirty="0"/>
          </a:p>
        </p:txBody>
      </p:sp>
      <p:sp>
        <p:nvSpPr>
          <p:cNvPr id="12" name="Text 10"/>
          <p:cNvSpPr txBox="1"/>
          <p:nvPr/>
        </p:nvSpPr>
        <p:spPr>
          <a:xfrm>
            <a:off x="8275320" y="3154680"/>
            <a:ext cx="3017520" cy="1051560"/>
          </a:xfrm>
          <a:prstGeom prst="rect">
            <a:avLst/>
          </a:prstGeom>
          <a:noFill/>
          <a:ln/>
        </p:spPr>
        <p:txBody>
          <a:bodyPr wrap="square" lIns="0" tIns="0" rIns="0" bIns="0" rtlCol="0" anchor="t"/>
          <a:lstStyle/>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Interval width</a:t>
            </a:r>
            <a:endParaRPr lang="en-US" sz="1500" dirty="0"/>
          </a:p>
          <a:p>
            <a:pPr algn="ctr" indent="0" marL="0">
              <a:lnSpc>
                <a:spcPct val="118000"/>
              </a:lnSpc>
              <a:buNone/>
            </a:pPr>
            <a:r>
              <a:rPr lang="en-US" sz="1500" dirty="0">
                <a:solidFill>
                  <a:srgbClr val="3A4A59"/>
                </a:solidFill>
                <a:latin typeface="Calibri" pitchFamily="34" charset="0"/>
                <a:ea typeface="Calibri" pitchFamily="34" charset="-122"/>
                <a:cs typeface="Calibri" pitchFamily="34" charset="-120"/>
              </a:rPr>
              <a:t>wider than most claimed gains</a:t>
            </a:r>
            <a:endParaRPr lang="en-US" sz="1500" dirty="0"/>
          </a:p>
        </p:txBody>
      </p:sp>
      <p:sp>
        <p:nvSpPr>
          <p:cNvPr id="13" name="Text 11"/>
          <p:cNvSpPr txBox="1"/>
          <p:nvPr/>
        </p:nvSpPr>
        <p:spPr>
          <a:xfrm>
            <a:off x="685800" y="4800600"/>
            <a:ext cx="10789920" cy="1280160"/>
          </a:xfrm>
          <a:prstGeom prst="rect">
            <a:avLst/>
          </a:prstGeom>
          <a:noFill/>
          <a:ln/>
        </p:spPr>
        <p:txBody>
          <a:bodyPr wrap="square" lIns="0" tIns="0" rIns="0" bIns="0" rtlCol="0" anchor="ctr"/>
          <a:lstStyle/>
          <a:p>
            <a:pPr indent="0" marL="0">
              <a:lnSpc>
                <a:spcPct val="128000"/>
              </a:lnSpc>
              <a:buNone/>
            </a:pPr>
            <a:r>
              <a:rPr lang="en-US" sz="1700" dirty="0">
                <a:solidFill>
                  <a:srgbClr val="3A4A59"/>
                </a:solidFill>
                <a:latin typeface="Calibri" pitchFamily="34" charset="0"/>
                <a:ea typeface="Calibri" pitchFamily="34" charset="-122"/>
                <a:cs typeface="Calibri" pitchFamily="34" charset="-120"/>
              </a:rPr>
              <a:t>Two models whose AUROCs differ by 0.01, or by 0.02, are indistinguishable on this much data. A large share of reported improvements in the clinical ML literature are narrower than this interval, and are reported without one.</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93D"/>
        </a:solidFill>
      </p:bgPr>
    </p:bg>
    <p:spTree>
      <p:nvGrpSpPr>
        <p:cNvPr id="1" name=""/>
        <p:cNvGrpSpPr/>
        <p:nvPr/>
      </p:nvGrpSpPr>
      <p:grpSpPr>
        <a:xfrm>
          <a:off x="0" y="0"/>
          <a:ext cx="0" cy="0"/>
          <a:chOff x="0" y="0"/>
          <a:chExt cx="0" cy="0"/>
        </a:xfrm>
      </p:grpSpPr>
      <p:sp>
        <p:nvSpPr>
          <p:cNvPr id="2" name="Shape 0"/>
          <p:cNvSpPr/>
          <p:nvPr/>
        </p:nvSpPr>
        <p:spPr>
          <a:xfrm>
            <a:off x="685800" y="2331720"/>
            <a:ext cx="914400" cy="914400"/>
          </a:xfrm>
          <a:prstGeom prst="ellipse">
            <a:avLst/>
          </a:prstGeom>
          <a:solidFill>
            <a:srgbClr val="DD5A22"/>
          </a:solidFill>
          <a:ln/>
        </p:spPr>
      </p:sp>
      <p:sp>
        <p:nvSpPr>
          <p:cNvPr id="3" name="Text 1"/>
          <p:cNvSpPr txBox="1"/>
          <p:nvPr/>
        </p:nvSpPr>
        <p:spPr>
          <a:xfrm>
            <a:off x="685800" y="23317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5</a:t>
            </a:r>
            <a:endParaRPr lang="en-US" sz="3400" dirty="0"/>
          </a:p>
        </p:txBody>
      </p:sp>
      <p:sp>
        <p:nvSpPr>
          <p:cNvPr id="4" name="Text 2"/>
          <p:cNvSpPr txBox="1"/>
          <p:nvPr/>
        </p:nvSpPr>
        <p:spPr>
          <a:xfrm>
            <a:off x="2057400" y="2148840"/>
            <a:ext cx="941832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model meets a second hospital</a:t>
            </a:r>
            <a:endParaRPr lang="en-US" sz="3800" dirty="0"/>
          </a:p>
        </p:txBody>
      </p:sp>
      <p:sp>
        <p:nvSpPr>
          <p:cNvPr id="5" name="Text 3"/>
          <p:cNvSpPr txBox="1"/>
          <p:nvPr/>
        </p:nvSpPr>
        <p:spPr>
          <a:xfrm>
            <a:off x="2057400" y="3246120"/>
            <a:ext cx="8503920" cy="914400"/>
          </a:xfrm>
          <a:prstGeom prst="rect">
            <a:avLst/>
          </a:prstGeom>
          <a:noFill/>
          <a:ln/>
        </p:spPr>
        <p:txBody>
          <a:bodyPr wrap="square" lIns="0" tIns="0" rIns="0" bIns="0" rtlCol="0" anchor="ctr"/>
          <a:lstStyle/>
          <a:p>
            <a:pPr indent="0" marL="0">
              <a:lnSpc>
                <a:spcPct val="125000"/>
              </a:lnSpc>
              <a:buNone/>
            </a:pPr>
            <a:r>
              <a:rPr lang="en-US" sz="1800" dirty="0">
                <a:solidFill>
                  <a:srgbClr val="AFC0D0"/>
                </a:solidFill>
                <a:latin typeface="Calibri" pitchFamily="34" charset="0"/>
                <a:ea typeface="Calibri" pitchFamily="34" charset="-122"/>
                <a:cs typeface="Calibri" pitchFamily="34" charset="-120"/>
              </a:rPr>
              <a:t>Site B has a sicker intake. Site C runs older analysers. Nothing about the model changes.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SAME MODEL, THREE HOSPITALS</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Ranking transfers. The numbers do not.</a:t>
            </a:r>
            <a:endParaRPr lang="en-US" sz="3000" dirty="0"/>
          </a:p>
        </p:txBody>
      </p:sp>
      <p:pic>
        <p:nvPicPr>
          <p:cNvPr id="4" name="Image 0" descr="figures/l1_shift_calibration.png">    </p:cNvPr>
          <p:cNvPicPr>
            <a:picLocks noChangeAspect="1"/>
          </p:cNvPicPr>
          <p:nvPr/>
        </p:nvPicPr>
        <p:blipFill>
          <a:blip r:embed="rId1"/>
          <a:srcRect l="0" r="0" t="0" b="0"/>
          <a:stretch/>
        </p:blipFill>
        <p:spPr>
          <a:xfrm>
            <a:off x="1874520" y="1417320"/>
            <a:ext cx="8412480" cy="3977640"/>
          </a:xfrm>
          <a:prstGeom prst="rect">
            <a:avLst/>
          </a:prstGeom>
        </p:spPr>
      </p:pic>
      <p:sp>
        <p:nvSpPr>
          <p:cNvPr id="5" name="Shape 2"/>
          <p:cNvSpPr/>
          <p:nvPr/>
        </p:nvSpPr>
        <p:spPr>
          <a:xfrm>
            <a:off x="685800" y="5623560"/>
            <a:ext cx="10789920" cy="822960"/>
          </a:xfrm>
          <a:prstGeom prst="rect">
            <a:avLst/>
          </a:prstGeom>
          <a:solidFill>
            <a:srgbClr val="F2F5F7"/>
          </a:solidFill>
          <a:ln/>
        </p:spPr>
      </p:sp>
      <p:sp>
        <p:nvSpPr>
          <p:cNvPr id="6" name="Text 3"/>
          <p:cNvSpPr txBox="1"/>
          <p:nvPr/>
        </p:nvSpPr>
        <p:spPr>
          <a:xfrm>
            <a:off x="960120" y="5623560"/>
            <a:ext cx="10241280" cy="822960"/>
          </a:xfrm>
          <a:prstGeom prst="rect">
            <a:avLst/>
          </a:prstGeom>
          <a:noFill/>
          <a:ln/>
        </p:spPr>
        <p:txBody>
          <a:bodyPr wrap="square" lIns="0" tIns="0" rIns="0" bIns="0" rtlCol="0" anchor="ctr"/>
          <a:lstStyle/>
          <a:p>
            <a:pPr indent="0" marL="0">
              <a:lnSpc>
                <a:spcPct val="115000"/>
              </a:lnSpc>
              <a:buNone/>
            </a:pPr>
            <a:r>
              <a:rPr lang="en-US" sz="1550" dirty="0">
                <a:solidFill>
                  <a:srgbClr val="3A4A59"/>
                </a:solidFill>
                <a:latin typeface="Calibri" pitchFamily="34" charset="0"/>
                <a:ea typeface="Calibri" pitchFamily="34" charset="-122"/>
                <a:cs typeface="Calibri" pitchFamily="34" charset="-120"/>
              </a:rPr>
              <a:t>At site B, AUROC holds up and the model understates risk by roughly a factor of two across the whole range. Leave the alert threshold at 0.5 and the model essentially stops firing on a ward where a quarter of patients deteriorate.</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COULD YOU HAVE SEEN IT COMING, WITHOUT WAITING FOR OUTCOMES?</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Covariate monitoring sees one of these two failures</a:t>
            </a:r>
            <a:endParaRPr lang="en-US" sz="3000" dirty="0"/>
          </a:p>
        </p:txBody>
      </p:sp>
      <p:pic>
        <p:nvPicPr>
          <p:cNvPr id="4" name="Image 0" descr="figures/l1_shift_detection.png">    </p:cNvPr>
          <p:cNvPicPr>
            <a:picLocks noChangeAspect="1"/>
          </p:cNvPicPr>
          <p:nvPr/>
        </p:nvPicPr>
        <p:blipFill>
          <a:blip r:embed="rId1"/>
          <a:srcRect l="0" r="0" t="0" b="0"/>
          <a:stretch/>
        </p:blipFill>
        <p:spPr>
          <a:xfrm>
            <a:off x="685800" y="1600200"/>
            <a:ext cx="6858000" cy="3840480"/>
          </a:xfrm>
          <a:prstGeom prst="rect">
            <a:avLst/>
          </a:prstGeom>
        </p:spPr>
      </p:pic>
      <p:sp>
        <p:nvSpPr>
          <p:cNvPr id="5" name="Shape 2"/>
          <p:cNvSpPr/>
          <p:nvPr/>
        </p:nvSpPr>
        <p:spPr>
          <a:xfrm>
            <a:off x="7818120" y="1764792"/>
            <a:ext cx="310896" cy="310896"/>
          </a:xfrm>
          <a:prstGeom prst="ellipse">
            <a:avLst/>
          </a:prstGeom>
          <a:solidFill>
            <a:srgbClr val="2E74B5"/>
          </a:solidFill>
          <a:ln/>
        </p:spPr>
      </p:sp>
      <p:sp>
        <p:nvSpPr>
          <p:cNvPr id="6" name="Text 3"/>
          <p:cNvSpPr txBox="1"/>
          <p:nvPr/>
        </p:nvSpPr>
        <p:spPr>
          <a:xfrm>
            <a:off x="7818120" y="17647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4"/>
          <p:cNvSpPr txBox="1"/>
          <p:nvPr/>
        </p:nvSpPr>
        <p:spPr>
          <a:xfrm>
            <a:off x="8275320" y="1719072"/>
            <a:ext cx="3200400" cy="310896"/>
          </a:xfrm>
          <a:prstGeom prst="rect">
            <a:avLst/>
          </a:prstGeom>
          <a:noFill/>
          <a:ln/>
        </p:spPr>
        <p:txBody>
          <a:bodyPr wrap="square" lIns="0" tIns="0" rIns="0" bIns="0" rtlCol="0" anchor="ctr"/>
          <a:lstStyle/>
          <a:p>
            <a:pPr indent="0" marL="0">
              <a:buNone/>
            </a:pPr>
            <a:r>
              <a:rPr lang="en-US" sz="1550" b="1" dirty="0">
                <a:solidFill>
                  <a:srgbClr val="13293D"/>
                </a:solidFill>
                <a:latin typeface="Calibri" pitchFamily="34" charset="0"/>
                <a:ea typeface="Calibri" pitchFamily="34" charset="-122"/>
                <a:cs typeface="Calibri" pitchFamily="34" charset="-120"/>
              </a:rPr>
              <a:t>Site C is a covariate shift</a:t>
            </a:r>
            <a:endParaRPr lang="en-US" sz="1550" dirty="0"/>
          </a:p>
        </p:txBody>
      </p:sp>
      <p:sp>
        <p:nvSpPr>
          <p:cNvPr id="8" name="Text 5"/>
          <p:cNvSpPr txBox="1"/>
          <p:nvPr/>
        </p:nvSpPr>
        <p:spPr>
          <a:xfrm>
            <a:off x="8275320" y="2048256"/>
            <a:ext cx="3200400" cy="960120"/>
          </a:xfrm>
          <a:prstGeom prst="rect">
            <a:avLst/>
          </a:prstGeom>
          <a:noFill/>
          <a:ln/>
        </p:spPr>
        <p:txBody>
          <a:bodyPr wrap="square" lIns="0" tIns="0" rIns="0" bIns="0" rtlCol="0" anchor="t"/>
          <a:lstStyle/>
          <a:p>
            <a:pPr indent="0" marL="0">
              <a:lnSpc>
                <a:spcPct val="116000"/>
              </a:lnSpc>
              <a:buNone/>
            </a:pPr>
            <a:r>
              <a:rPr lang="en-US" sz="1350" dirty="0">
                <a:solidFill>
                  <a:srgbClr val="3A4A59"/>
                </a:solidFill>
                <a:latin typeface="Calibri" pitchFamily="34" charset="0"/>
                <a:ea typeface="Calibri" pitchFamily="34" charset="-122"/>
                <a:cs typeface="Calibri" pitchFamily="34" charset="-120"/>
              </a:rPr>
              <a:t>Large standardised mean differences on lactate, creatinine and WBC. A drift alarm fires on day one, with no outcome labels needed.</a:t>
            </a:r>
            <a:endParaRPr lang="en-US" sz="1350" dirty="0"/>
          </a:p>
        </p:txBody>
      </p:sp>
      <p:sp>
        <p:nvSpPr>
          <p:cNvPr id="9" name="Shape 6"/>
          <p:cNvSpPr/>
          <p:nvPr/>
        </p:nvSpPr>
        <p:spPr>
          <a:xfrm>
            <a:off x="7818120" y="3154680"/>
            <a:ext cx="310896" cy="310896"/>
          </a:xfrm>
          <a:prstGeom prst="ellipse">
            <a:avLst/>
          </a:prstGeom>
          <a:solidFill>
            <a:srgbClr val="DD5A22"/>
          </a:solidFill>
          <a:ln/>
        </p:spPr>
      </p:sp>
      <p:sp>
        <p:nvSpPr>
          <p:cNvPr id="10" name="Text 7"/>
          <p:cNvSpPr txBox="1"/>
          <p:nvPr/>
        </p:nvSpPr>
        <p:spPr>
          <a:xfrm>
            <a:off x="7818120" y="31546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8"/>
          <p:cNvSpPr txBox="1"/>
          <p:nvPr/>
        </p:nvSpPr>
        <p:spPr>
          <a:xfrm>
            <a:off x="8275320" y="3108960"/>
            <a:ext cx="3200400" cy="310896"/>
          </a:xfrm>
          <a:prstGeom prst="rect">
            <a:avLst/>
          </a:prstGeom>
          <a:noFill/>
          <a:ln/>
        </p:spPr>
        <p:txBody>
          <a:bodyPr wrap="square" lIns="0" tIns="0" rIns="0" bIns="0" rtlCol="0" anchor="ctr"/>
          <a:lstStyle/>
          <a:p>
            <a:pPr indent="0" marL="0">
              <a:buNone/>
            </a:pPr>
            <a:r>
              <a:rPr lang="en-US" sz="1550" b="1" dirty="0">
                <a:solidFill>
                  <a:srgbClr val="13293D"/>
                </a:solidFill>
                <a:latin typeface="Calibri" pitchFamily="34" charset="0"/>
                <a:ea typeface="Calibri" pitchFamily="34" charset="-122"/>
                <a:cs typeface="Calibri" pitchFamily="34" charset="-120"/>
              </a:rPr>
              <a:t>Site B is a conditional shift</a:t>
            </a:r>
            <a:endParaRPr lang="en-US" sz="1550" dirty="0"/>
          </a:p>
        </p:txBody>
      </p:sp>
      <p:sp>
        <p:nvSpPr>
          <p:cNvPr id="12" name="Text 9"/>
          <p:cNvSpPr txBox="1"/>
          <p:nvPr/>
        </p:nvSpPr>
        <p:spPr>
          <a:xfrm>
            <a:off x="8275320" y="3438144"/>
            <a:ext cx="3200400" cy="960120"/>
          </a:xfrm>
          <a:prstGeom prst="rect">
            <a:avLst/>
          </a:prstGeom>
          <a:noFill/>
          <a:ln/>
        </p:spPr>
        <p:txBody>
          <a:bodyPr wrap="square" lIns="0" tIns="0" rIns="0" bIns="0" rtlCol="0" anchor="t"/>
          <a:lstStyle/>
          <a:p>
            <a:pPr indent="0" marL="0">
              <a:lnSpc>
                <a:spcPct val="116000"/>
              </a:lnSpc>
              <a:buNone/>
            </a:pPr>
            <a:r>
              <a:rPr lang="en-US" sz="1350" dirty="0">
                <a:solidFill>
                  <a:srgbClr val="3A4A59"/>
                </a:solidFill>
                <a:latin typeface="Calibri" pitchFamily="34" charset="0"/>
                <a:ea typeface="Calibri" pitchFamily="34" charset="-122"/>
                <a:cs typeface="Calibri" pitchFamily="34" charset="-120"/>
              </a:rPr>
              <a:t>Every standardised mean difference is under 0.03. The inputs are unchanged; the risk they carry moved. Not label shift - that assumes a stable P(X given Y), which fails here.</a:t>
            </a:r>
            <a:endParaRPr lang="en-US" sz="1350" dirty="0"/>
          </a:p>
        </p:txBody>
      </p:sp>
      <p:sp>
        <p:nvSpPr>
          <p:cNvPr id="13" name="Shape 10"/>
          <p:cNvSpPr/>
          <p:nvPr/>
        </p:nvSpPr>
        <p:spPr>
          <a:xfrm>
            <a:off x="7818120" y="4544568"/>
            <a:ext cx="310896" cy="310896"/>
          </a:xfrm>
          <a:prstGeom prst="ellipse">
            <a:avLst/>
          </a:prstGeom>
          <a:solidFill>
            <a:srgbClr val="0E8F6E"/>
          </a:solidFill>
          <a:ln/>
        </p:spPr>
      </p:sp>
      <p:sp>
        <p:nvSpPr>
          <p:cNvPr id="14" name="Text 11"/>
          <p:cNvSpPr txBox="1"/>
          <p:nvPr/>
        </p:nvSpPr>
        <p:spPr>
          <a:xfrm>
            <a:off x="7818120" y="454456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txBox="1"/>
          <p:nvPr/>
        </p:nvSpPr>
        <p:spPr>
          <a:xfrm>
            <a:off x="8275320" y="4498848"/>
            <a:ext cx="3200400" cy="310896"/>
          </a:xfrm>
          <a:prstGeom prst="rect">
            <a:avLst/>
          </a:prstGeom>
          <a:noFill/>
          <a:ln/>
        </p:spPr>
        <p:txBody>
          <a:bodyPr wrap="square" lIns="0" tIns="0" rIns="0" bIns="0" rtlCol="0" anchor="ctr"/>
          <a:lstStyle/>
          <a:p>
            <a:pPr indent="0" marL="0">
              <a:buNone/>
            </a:pPr>
            <a:r>
              <a:rPr lang="en-US" sz="1550" b="1" dirty="0">
                <a:solidFill>
                  <a:srgbClr val="13293D"/>
                </a:solidFill>
                <a:latin typeface="Calibri" pitchFamily="34" charset="0"/>
                <a:ea typeface="Calibri" pitchFamily="34" charset="-122"/>
                <a:cs typeface="Calibri" pitchFamily="34" charset="-120"/>
              </a:rPr>
              <a:t>So the gap is structural</a:t>
            </a:r>
            <a:endParaRPr lang="en-US" sz="1550" dirty="0"/>
          </a:p>
        </p:txBody>
      </p:sp>
      <p:sp>
        <p:nvSpPr>
          <p:cNvPr id="16" name="Text 13"/>
          <p:cNvSpPr txBox="1"/>
          <p:nvPr/>
        </p:nvSpPr>
        <p:spPr>
          <a:xfrm>
            <a:off x="8275320" y="4828032"/>
            <a:ext cx="3200400" cy="960120"/>
          </a:xfrm>
          <a:prstGeom prst="rect">
            <a:avLst/>
          </a:prstGeom>
          <a:noFill/>
          <a:ln/>
        </p:spPr>
        <p:txBody>
          <a:bodyPr wrap="square" lIns="0" tIns="0" rIns="0" bIns="0" rtlCol="0" anchor="t"/>
          <a:lstStyle/>
          <a:p>
            <a:pPr indent="0" marL="0">
              <a:lnSpc>
                <a:spcPct val="116000"/>
              </a:lnSpc>
              <a:buNone/>
            </a:pPr>
            <a:r>
              <a:rPr lang="en-US" sz="1350" dirty="0">
                <a:solidFill>
                  <a:srgbClr val="3A4A59"/>
                </a:solidFill>
                <a:latin typeface="Calibri" pitchFamily="34" charset="0"/>
                <a:ea typeface="Calibri" pitchFamily="34" charset="-122"/>
                <a:cs typeface="Calibri" pitchFamily="34" charset="-120"/>
              </a:rPr>
              <a:t>Input monitoring watches the inputs. It cannot license a claim about the risk attached to them, however green the dashboard looks.</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3293D"/>
        </a:solidFill>
      </p:bgPr>
    </p:bg>
    <p:spTree>
      <p:nvGrpSpPr>
        <p:cNvPr id="1" name=""/>
        <p:cNvGrpSpPr/>
        <p:nvPr/>
      </p:nvGrpSpPr>
      <p:grpSpPr>
        <a:xfrm>
          <a:off x="0" y="0"/>
          <a:ext cx="0" cy="0"/>
          <a:chOff x="0" y="0"/>
          <a:chExt cx="0" cy="0"/>
        </a:xfrm>
      </p:grpSpPr>
      <p:sp>
        <p:nvSpPr>
          <p:cNvPr id="2" name="Text 0"/>
          <p:cNvSpPr txBox="1"/>
          <p:nvPr/>
        </p:nvSpPr>
        <p:spPr>
          <a:xfrm>
            <a:off x="960120" y="1737360"/>
            <a:ext cx="10241280" cy="2286000"/>
          </a:xfrm>
          <a:prstGeom prst="rect">
            <a:avLst/>
          </a:prstGeom>
          <a:noFill/>
          <a:ln/>
        </p:spPr>
        <p:txBody>
          <a:bodyPr wrap="square" lIns="0" tIns="0" rIns="0" bIns="0" rtlCol="0" anchor="ctr"/>
          <a:lstStyle/>
          <a:p>
            <a:pPr indent="0" marL="0">
              <a:lnSpc>
                <a:spcPct val="112000"/>
              </a:lnSpc>
              <a:buNone/>
            </a:pPr>
            <a:r>
              <a:rPr lang="en-US" sz="3600" b="1" dirty="0">
                <a:solidFill>
                  <a:srgbClr val="FFFFFF"/>
                </a:solidFill>
                <a:latin typeface="Cambria" pitchFamily="34" charset="0"/>
                <a:ea typeface="Cambria" pitchFamily="34" charset="-122"/>
                <a:cs typeface="Cambria" pitchFamily="34" charset="-120"/>
              </a:rPr>
              <a:t>The absence of observed input drift is not</a:t>
            </a:r>
            <a:endParaRPr lang="en-US" sz="3600" dirty="0"/>
          </a:p>
          <a:p>
            <a:pPr indent="0" marL="0">
              <a:lnSpc>
                <a:spcPct val="112000"/>
              </a:lnSpc>
              <a:buNone/>
            </a:pPr>
            <a:r>
              <a:rPr lang="en-US" sz="3600" b="1" dirty="0">
                <a:solidFill>
                  <a:srgbClr val="FFFFFF"/>
                </a:solidFill>
                <a:latin typeface="Cambria" pitchFamily="34" charset="0"/>
                <a:ea typeface="Cambria" pitchFamily="34" charset="-122"/>
                <a:cs typeface="Cambria" pitchFamily="34" charset="-120"/>
              </a:rPr>
              <a:t>evidence that the model is still valid.</a:t>
            </a:r>
            <a:endParaRPr lang="en-US" sz="3600" dirty="0"/>
          </a:p>
        </p:txBody>
      </p:sp>
      <p:sp>
        <p:nvSpPr>
          <p:cNvPr id="3" name="Shape 1"/>
          <p:cNvSpPr/>
          <p:nvPr/>
        </p:nvSpPr>
        <p:spPr>
          <a:xfrm>
            <a:off x="960120" y="4224528"/>
            <a:ext cx="1005840" cy="32004"/>
          </a:xfrm>
          <a:prstGeom prst="rect">
            <a:avLst/>
          </a:prstGeom>
          <a:solidFill>
            <a:srgbClr val="DD5A22"/>
          </a:solidFill>
          <a:ln/>
        </p:spPr>
      </p:sp>
      <p:sp>
        <p:nvSpPr>
          <p:cNvPr id="4" name="Text 2"/>
          <p:cNvSpPr txBox="1"/>
          <p:nvPr/>
        </p:nvSpPr>
        <p:spPr>
          <a:xfrm>
            <a:off x="960120" y="4681728"/>
            <a:ext cx="9326880" cy="1325880"/>
          </a:xfrm>
          <a:prstGeom prst="rect">
            <a:avLst/>
          </a:prstGeom>
          <a:noFill/>
          <a:ln/>
        </p:spPr>
        <p:txBody>
          <a:bodyPr wrap="square" lIns="0" tIns="0" rIns="0" bIns="0" rtlCol="0" anchor="ctr"/>
          <a:lstStyle/>
          <a:p>
            <a:pPr indent="0" marL="0">
              <a:lnSpc>
                <a:spcPct val="125000"/>
              </a:lnSpc>
              <a:buNone/>
            </a:pPr>
            <a:r>
              <a:rPr lang="en-US" sz="1800" dirty="0">
                <a:solidFill>
                  <a:srgbClr val="AFC0D0"/>
                </a:solidFill>
                <a:latin typeface="Calibri" pitchFamily="34" charset="0"/>
                <a:ea typeface="Calibri" pitchFamily="34" charset="-122"/>
                <a:cs typeface="Calibri" pitchFamily="34" charset="-120"/>
              </a:rPr>
              <a:t>Input monitoring never had access to the thing that moved at site B, so it cannot establish that the conditional risk has held. Confirming that takes outcome data, or a surrogate you have validated against outcomes. Most deployed monitoring is an input-drift dashboard, which makes a green dashboard a much weaker statement than the people reading it believe.</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293D"/>
        </a:solidFill>
      </p:bgPr>
    </p:bg>
    <p:spTree>
      <p:nvGrpSpPr>
        <p:cNvPr id="1" name=""/>
        <p:cNvGrpSpPr/>
        <p:nvPr/>
      </p:nvGrpSpPr>
      <p:grpSpPr>
        <a:xfrm>
          <a:off x="0" y="0"/>
          <a:ext cx="0" cy="0"/>
          <a:chOff x="0" y="0"/>
          <a:chExt cx="0" cy="0"/>
        </a:xfrm>
      </p:grpSpPr>
      <p:sp>
        <p:nvSpPr>
          <p:cNvPr id="2" name="Shape 0"/>
          <p:cNvSpPr/>
          <p:nvPr/>
        </p:nvSpPr>
        <p:spPr>
          <a:xfrm>
            <a:off x="685800" y="2331720"/>
            <a:ext cx="914400" cy="914400"/>
          </a:xfrm>
          <a:prstGeom prst="ellipse">
            <a:avLst/>
          </a:prstGeom>
          <a:solidFill>
            <a:srgbClr val="DD5A22"/>
          </a:solidFill>
          <a:ln/>
        </p:spPr>
      </p:sp>
      <p:sp>
        <p:nvSpPr>
          <p:cNvPr id="3" name="Text 1"/>
          <p:cNvSpPr txBox="1"/>
          <p:nvPr/>
        </p:nvSpPr>
        <p:spPr>
          <a:xfrm>
            <a:off x="685800" y="23317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6</a:t>
            </a:r>
            <a:endParaRPr lang="en-US" sz="3400" dirty="0"/>
          </a:p>
        </p:txBody>
      </p:sp>
      <p:sp>
        <p:nvSpPr>
          <p:cNvPr id="4" name="Text 2"/>
          <p:cNvSpPr txBox="1"/>
          <p:nvPr/>
        </p:nvSpPr>
        <p:spPr>
          <a:xfrm>
            <a:off x="2057400" y="2148840"/>
            <a:ext cx="941832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information in a blank cell</a:t>
            </a:r>
            <a:endParaRPr lang="en-US" sz="3800" dirty="0"/>
          </a:p>
        </p:txBody>
      </p:sp>
      <p:sp>
        <p:nvSpPr>
          <p:cNvPr id="5" name="Text 3"/>
          <p:cNvSpPr txBox="1"/>
          <p:nvPr/>
        </p:nvSpPr>
        <p:spPr>
          <a:xfrm>
            <a:off x="2057400" y="3246120"/>
            <a:ext cx="8503920" cy="914400"/>
          </a:xfrm>
          <a:prstGeom prst="rect">
            <a:avLst/>
          </a:prstGeom>
          <a:noFill/>
          <a:ln/>
        </p:spPr>
        <p:txBody>
          <a:bodyPr wrap="square" lIns="0" tIns="0" rIns="0" bIns="0" rtlCol="0" anchor="ctr"/>
          <a:lstStyle/>
          <a:p>
            <a:pPr indent="0" marL="0">
              <a:lnSpc>
                <a:spcPct val="125000"/>
              </a:lnSpc>
              <a:buNone/>
            </a:pPr>
            <a:r>
              <a:rPr lang="en-US" sz="1800" dirty="0">
                <a:solidFill>
                  <a:srgbClr val="AFC0D0"/>
                </a:solidFill>
                <a:latin typeface="Calibri" pitchFamily="34" charset="0"/>
                <a:ea typeface="Calibri" pitchFamily="34" charset="-122"/>
                <a:cs typeface="Calibri" pitchFamily="34" charset="-120"/>
              </a:rPr>
              <a:t>A lab is missing because nobody ordered it, and nobody ordered it because nobody was worried.</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MISSING NOT AT RANDOM</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Two standard responses, both wrong</a:t>
            </a:r>
            <a:endParaRPr lang="en-US" sz="3000" dirty="0"/>
          </a:p>
        </p:txBody>
      </p:sp>
      <p:pic>
        <p:nvPicPr>
          <p:cNvPr id="4" name="Image 0" descr="figures/l1_missingness.png">    </p:cNvPr>
          <p:cNvPicPr>
            <a:picLocks noChangeAspect="1"/>
          </p:cNvPicPr>
          <p:nvPr/>
        </p:nvPicPr>
        <p:blipFill>
          <a:blip r:embed="rId1"/>
          <a:srcRect l="0" r="0" t="0" b="0"/>
          <a:stretch/>
        </p:blipFill>
        <p:spPr>
          <a:xfrm>
            <a:off x="1874520" y="1417320"/>
            <a:ext cx="8412480" cy="3977640"/>
          </a:xfrm>
          <a:prstGeom prst="rect">
            <a:avLst/>
          </a:prstGeom>
        </p:spPr>
      </p:pic>
      <p:sp>
        <p:nvSpPr>
          <p:cNvPr id="5" name="Shape 2"/>
          <p:cNvSpPr/>
          <p:nvPr/>
        </p:nvSpPr>
        <p:spPr>
          <a:xfrm>
            <a:off x="685800" y="5623560"/>
            <a:ext cx="10789920" cy="822960"/>
          </a:xfrm>
          <a:prstGeom prst="rect">
            <a:avLst/>
          </a:prstGeom>
          <a:solidFill>
            <a:srgbClr val="F2F5F7"/>
          </a:solidFill>
          <a:ln/>
        </p:spPr>
      </p:sp>
      <p:sp>
        <p:nvSpPr>
          <p:cNvPr id="6" name="Text 3"/>
          <p:cNvSpPr txBox="1"/>
          <p:nvPr/>
        </p:nvSpPr>
        <p:spPr>
          <a:xfrm>
            <a:off x="960120" y="5623560"/>
            <a:ext cx="10241280" cy="822960"/>
          </a:xfrm>
          <a:prstGeom prst="rect">
            <a:avLst/>
          </a:prstGeom>
          <a:noFill/>
          <a:ln/>
        </p:spPr>
        <p:txBody>
          <a:bodyPr wrap="square" lIns="0" tIns="0" rIns="0" bIns="0" rtlCol="0" anchor="ctr"/>
          <a:lstStyle/>
          <a:p>
            <a:pPr indent="0" marL="0">
              <a:lnSpc>
                <a:spcPct val="115000"/>
              </a:lnSpc>
              <a:buNone/>
            </a:pPr>
            <a:r>
              <a:rPr lang="en-US" sz="1550" dirty="0">
                <a:solidFill>
                  <a:srgbClr val="3A4A59"/>
                </a:solidFill>
                <a:latin typeface="Calibri" pitchFamily="34" charset="0"/>
                <a:ea typeface="Calibri" pitchFamily="34" charset="-122"/>
                <a:cs typeface="Calibri" pitchFamily="34" charset="-120"/>
              </a:rPr>
              <a:t>Patients whose creatinine was never sent deteriorate at well under half the rate of those whose was. Drop the incomplete rows and you keep 46% of the ward - silently selected toward the sickest, with an event rate of 0.217 against 0.150 overall.</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74320"/>
          </a:xfrm>
          <a:prstGeom prst="rect">
            <a:avLst/>
          </a:prstGeom>
          <a:noFill/>
          <a:ln/>
        </p:spPr>
        <p:txBody>
          <a:bodyPr wrap="square" lIns="0" tIns="0" rIns="0" bIns="0" rtlCol="0" anchor="ctr"/>
          <a:lstStyle/>
          <a:p>
            <a:pPr indent="0" marL="0">
              <a:buNone/>
            </a:pPr>
            <a:r>
              <a:rPr lang="en-US" sz="1300" b="1" spc="150" kern="0" dirty="0">
                <a:solidFill>
                  <a:srgbClr val="DD5A22"/>
                </a:solidFill>
                <a:latin typeface="Calibri" pitchFamily="34" charset="0"/>
                <a:ea typeface="Calibri" pitchFamily="34" charset="-122"/>
                <a:cs typeface="Calibri" pitchFamily="34" charset="-120"/>
              </a:rPr>
              <a:t>LECTURE 1</a:t>
            </a:r>
            <a:endParaRPr lang="en-US" sz="1300" dirty="0"/>
          </a:p>
        </p:txBody>
      </p:sp>
      <p:sp>
        <p:nvSpPr>
          <p:cNvPr id="3" name="Text 1"/>
          <p:cNvSpPr txBox="1"/>
          <p:nvPr/>
        </p:nvSpPr>
        <p:spPr>
          <a:xfrm>
            <a:off x="685800" y="832104"/>
            <a:ext cx="10789920" cy="658368"/>
          </a:xfrm>
          <a:prstGeom prst="rect">
            <a:avLst/>
          </a:prstGeom>
          <a:noFill/>
          <a:ln/>
        </p:spPr>
        <p:txBody>
          <a:bodyPr wrap="square" lIns="0" tIns="0" rIns="0" bIns="0" rtlCol="0" anchor="t"/>
          <a:lstStyle/>
          <a:p>
            <a:pPr indent="0" marL="0">
              <a:buNone/>
            </a:pPr>
            <a:r>
              <a:rPr lang="en-US" sz="3000" b="1" dirty="0">
                <a:solidFill>
                  <a:srgbClr val="13293D"/>
                </a:solidFill>
                <a:latin typeface="Cambria" pitchFamily="34" charset="0"/>
                <a:ea typeface="Cambria" pitchFamily="34" charset="-122"/>
                <a:cs typeface="Cambria" pitchFamily="34" charset="-120"/>
              </a:rPr>
              <a:t>What to take away</a:t>
            </a:r>
            <a:endParaRPr lang="en-US" sz="3000" dirty="0"/>
          </a:p>
        </p:txBody>
      </p:sp>
      <p:sp>
        <p:nvSpPr>
          <p:cNvPr id="4" name="Shape 2"/>
          <p:cNvSpPr/>
          <p:nvPr/>
        </p:nvSpPr>
        <p:spPr>
          <a:xfrm>
            <a:off x="685800" y="1636776"/>
            <a:ext cx="347472" cy="347472"/>
          </a:xfrm>
          <a:prstGeom prst="ellipse">
            <a:avLst/>
          </a:prstGeom>
          <a:solidFill>
            <a:srgbClr val="2E74B5"/>
          </a:solidFill>
          <a:ln/>
        </p:spPr>
      </p:sp>
      <p:sp>
        <p:nvSpPr>
          <p:cNvPr id="5" name="Text 3"/>
          <p:cNvSpPr txBox="1"/>
          <p:nvPr/>
        </p:nvSpPr>
        <p:spPr>
          <a:xfrm>
            <a:off x="685800" y="163677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97864" y="1600200"/>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Report a distribution, or an interval</a:t>
            </a:r>
            <a:endParaRPr lang="en-US" sz="1700" dirty="0"/>
          </a:p>
        </p:txBody>
      </p:sp>
      <p:sp>
        <p:nvSpPr>
          <p:cNvPr id="7" name="Text 5"/>
          <p:cNvSpPr txBox="1"/>
          <p:nvPr/>
        </p:nvSpPr>
        <p:spPr>
          <a:xfrm>
            <a:off x="1197864" y="1920240"/>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A point estimate on ten observations is not a finding</a:t>
            </a:r>
            <a:endParaRPr lang="en-US" sz="1450" dirty="0"/>
          </a:p>
        </p:txBody>
      </p:sp>
      <p:sp>
        <p:nvSpPr>
          <p:cNvPr id="8" name="Shape 6"/>
          <p:cNvSpPr/>
          <p:nvPr/>
        </p:nvSpPr>
        <p:spPr>
          <a:xfrm>
            <a:off x="685800" y="2569464"/>
            <a:ext cx="347472" cy="347472"/>
          </a:xfrm>
          <a:prstGeom prst="ellipse">
            <a:avLst/>
          </a:prstGeom>
          <a:solidFill>
            <a:srgbClr val="DD5A22"/>
          </a:solidFill>
          <a:ln/>
        </p:spPr>
      </p:sp>
      <p:sp>
        <p:nvSpPr>
          <p:cNvPr id="9" name="Text 7"/>
          <p:cNvSpPr txBox="1"/>
          <p:nvPr/>
        </p:nvSpPr>
        <p:spPr>
          <a:xfrm>
            <a:off x="685800" y="25694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97864" y="2532888"/>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AUROC measures order, not meaning</a:t>
            </a:r>
            <a:endParaRPr lang="en-US" sz="1700" dirty="0"/>
          </a:p>
        </p:txBody>
      </p:sp>
      <p:sp>
        <p:nvSpPr>
          <p:cNvPr id="11" name="Text 9"/>
          <p:cNvSpPr txBox="1"/>
          <p:nvPr/>
        </p:nvSpPr>
        <p:spPr>
          <a:xfrm>
            <a:off x="1197864" y="2852928"/>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Deployment breaks meaning first</a:t>
            </a:r>
            <a:endParaRPr lang="en-US" sz="1450" dirty="0"/>
          </a:p>
        </p:txBody>
      </p:sp>
      <p:sp>
        <p:nvSpPr>
          <p:cNvPr id="12" name="Shape 10"/>
          <p:cNvSpPr/>
          <p:nvPr/>
        </p:nvSpPr>
        <p:spPr>
          <a:xfrm>
            <a:off x="685800" y="3502152"/>
            <a:ext cx="347472" cy="347472"/>
          </a:xfrm>
          <a:prstGeom prst="ellipse">
            <a:avLst/>
          </a:prstGeom>
          <a:solidFill>
            <a:srgbClr val="0E8F6E"/>
          </a:solidFill>
          <a:ln/>
        </p:spPr>
      </p:sp>
      <p:sp>
        <p:nvSpPr>
          <p:cNvPr id="13" name="Text 11"/>
          <p:cNvSpPr txBox="1"/>
          <p:nvPr/>
        </p:nvSpPr>
        <p:spPr>
          <a:xfrm>
            <a:off x="685800" y="35021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97864" y="3465576"/>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Separate the two uncertainties</a:t>
            </a:r>
            <a:endParaRPr lang="en-US" sz="1700" dirty="0"/>
          </a:p>
        </p:txBody>
      </p:sp>
      <p:sp>
        <p:nvSpPr>
          <p:cNvPr id="15" name="Text 13"/>
          <p:cNvSpPr txBox="1"/>
          <p:nvPr/>
        </p:nvSpPr>
        <p:spPr>
          <a:xfrm>
            <a:off x="1197864" y="3785616"/>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They call for different responses</a:t>
            </a:r>
            <a:endParaRPr lang="en-US" sz="1450" dirty="0"/>
          </a:p>
        </p:txBody>
      </p:sp>
      <p:sp>
        <p:nvSpPr>
          <p:cNvPr id="16" name="Shape 14"/>
          <p:cNvSpPr/>
          <p:nvPr/>
        </p:nvSpPr>
        <p:spPr>
          <a:xfrm>
            <a:off x="6400800" y="1636776"/>
            <a:ext cx="347472" cy="347472"/>
          </a:xfrm>
          <a:prstGeom prst="ellipse">
            <a:avLst/>
          </a:prstGeom>
          <a:solidFill>
            <a:srgbClr val="9C4BA0"/>
          </a:solidFill>
          <a:ln/>
        </p:spPr>
      </p:sp>
      <p:sp>
        <p:nvSpPr>
          <p:cNvPr id="17" name="Text 15"/>
          <p:cNvSpPr txBox="1"/>
          <p:nvPr/>
        </p:nvSpPr>
        <p:spPr>
          <a:xfrm>
            <a:off x="6400800" y="163677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6912864" y="1600200"/>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Know your aleatoric floor</a:t>
            </a:r>
            <a:endParaRPr lang="en-US" sz="1700" dirty="0"/>
          </a:p>
        </p:txBody>
      </p:sp>
      <p:sp>
        <p:nvSpPr>
          <p:cNvPr id="19" name="Text 17"/>
          <p:cNvSpPr txBox="1"/>
          <p:nvPr/>
        </p:nvSpPr>
        <p:spPr>
          <a:xfrm>
            <a:off x="6912864" y="1920240"/>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Some of the gap was never in your columns</a:t>
            </a:r>
            <a:endParaRPr lang="en-US" sz="1450" dirty="0"/>
          </a:p>
        </p:txBody>
      </p:sp>
      <p:sp>
        <p:nvSpPr>
          <p:cNvPr id="20" name="Shape 18"/>
          <p:cNvSpPr/>
          <p:nvPr/>
        </p:nvSpPr>
        <p:spPr>
          <a:xfrm>
            <a:off x="6400800" y="2569464"/>
            <a:ext cx="347472" cy="347472"/>
          </a:xfrm>
          <a:prstGeom prst="ellipse">
            <a:avLst/>
          </a:prstGeom>
          <a:solidFill>
            <a:srgbClr val="2E74B5"/>
          </a:solidFill>
          <a:ln/>
        </p:spPr>
      </p:sp>
      <p:sp>
        <p:nvSpPr>
          <p:cNvPr id="21" name="Text 19"/>
          <p:cNvSpPr txBox="1"/>
          <p:nvPr/>
        </p:nvSpPr>
        <p:spPr>
          <a:xfrm>
            <a:off x="6400800" y="25694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6912864" y="2532888"/>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A green input dashboard proves little</a:t>
            </a:r>
            <a:endParaRPr lang="en-US" sz="1700" dirty="0"/>
          </a:p>
        </p:txBody>
      </p:sp>
      <p:sp>
        <p:nvSpPr>
          <p:cNvPr id="23" name="Text 21"/>
          <p:cNvSpPr txBox="1"/>
          <p:nvPr/>
        </p:nvSpPr>
        <p:spPr>
          <a:xfrm>
            <a:off x="6912864" y="2852928"/>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It cannot license a claim about conditional risk</a:t>
            </a:r>
            <a:endParaRPr lang="en-US" sz="1450" dirty="0"/>
          </a:p>
        </p:txBody>
      </p:sp>
      <p:sp>
        <p:nvSpPr>
          <p:cNvPr id="24" name="Shape 22"/>
          <p:cNvSpPr/>
          <p:nvPr/>
        </p:nvSpPr>
        <p:spPr>
          <a:xfrm>
            <a:off x="6400800" y="3502152"/>
            <a:ext cx="347472" cy="347472"/>
          </a:xfrm>
          <a:prstGeom prst="ellipse">
            <a:avLst/>
          </a:prstGeom>
          <a:solidFill>
            <a:srgbClr val="DD5A22"/>
          </a:solidFill>
          <a:ln/>
        </p:spPr>
      </p:sp>
      <p:sp>
        <p:nvSpPr>
          <p:cNvPr id="25" name="Text 23"/>
          <p:cNvSpPr txBox="1"/>
          <p:nvPr/>
        </p:nvSpPr>
        <p:spPr>
          <a:xfrm>
            <a:off x="6400800" y="35021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24"/>
          <p:cNvSpPr txBox="1"/>
          <p:nvPr/>
        </p:nvSpPr>
        <p:spPr>
          <a:xfrm>
            <a:off x="6912864" y="3465576"/>
            <a:ext cx="4562856" cy="329184"/>
          </a:xfrm>
          <a:prstGeom prst="rect">
            <a:avLst/>
          </a:prstGeom>
          <a:noFill/>
          <a:ln/>
        </p:spPr>
        <p:txBody>
          <a:bodyPr wrap="square" lIns="0" tIns="0" rIns="0" bIns="0" rtlCol="0" anchor="ctr"/>
          <a:lstStyle/>
          <a:p>
            <a:pPr indent="0" marL="0">
              <a:buNone/>
            </a:pPr>
            <a:r>
              <a:rPr lang="en-US" sz="1700" b="1" dirty="0">
                <a:solidFill>
                  <a:srgbClr val="13293D"/>
                </a:solidFill>
                <a:latin typeface="Calibri" pitchFamily="34" charset="0"/>
                <a:ea typeface="Calibri" pitchFamily="34" charset="-122"/>
                <a:cs typeface="Calibri" pitchFamily="34" charset="-120"/>
              </a:rPr>
              <a:t>Missingness is a recorded decision</a:t>
            </a:r>
            <a:endParaRPr lang="en-US" sz="1700" dirty="0"/>
          </a:p>
        </p:txBody>
      </p:sp>
      <p:sp>
        <p:nvSpPr>
          <p:cNvPr id="27" name="Text 25"/>
          <p:cNvSpPr txBox="1"/>
          <p:nvPr/>
        </p:nvSpPr>
        <p:spPr>
          <a:xfrm>
            <a:off x="6912864" y="3785616"/>
            <a:ext cx="4562856" cy="566928"/>
          </a:xfrm>
          <a:prstGeom prst="rect">
            <a:avLst/>
          </a:prstGeom>
          <a:noFill/>
          <a:ln/>
        </p:spPr>
        <p:txBody>
          <a:bodyPr wrap="square" lIns="0" tIns="0" rIns="0" bIns="0" rtlCol="0" anchor="ctr"/>
          <a:lstStyle/>
          <a:p>
            <a:pPr indent="0" marL="0">
              <a:lnSpc>
                <a:spcPct val="114000"/>
              </a:lnSpc>
              <a:buNone/>
            </a:pPr>
            <a:r>
              <a:rPr lang="en-US" sz="1450" dirty="0">
                <a:solidFill>
                  <a:srgbClr val="3A4A59"/>
                </a:solidFill>
                <a:latin typeface="Calibri" pitchFamily="34" charset="0"/>
                <a:ea typeface="Calibri" pitchFamily="34" charset="-122"/>
                <a:cs typeface="Calibri" pitchFamily="34" charset="-120"/>
              </a:rPr>
              <a:t>Model it. Never drop the rows.</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3293D"/>
        </a:solidFill>
      </p:bgPr>
    </p:bg>
    <p:spTree>
      <p:nvGrpSpPr>
        <p:cNvPr id="1" name=""/>
        <p:cNvGrpSpPr/>
        <p:nvPr/>
      </p:nvGrpSpPr>
      <p:grpSpPr>
        <a:xfrm>
          <a:off x="0" y="0"/>
          <a:ext cx="0" cy="0"/>
          <a:chOff x="0" y="0"/>
          <a:chExt cx="0" cy="0"/>
        </a:xfrm>
      </p:grpSpPr>
      <p:sp>
        <p:nvSpPr>
          <p:cNvPr id="2" name="Text 0"/>
          <p:cNvSpPr txBox="1"/>
          <p:nvPr/>
        </p:nvSpPr>
        <p:spPr>
          <a:xfrm>
            <a:off x="960120" y="1737360"/>
            <a:ext cx="10241280" cy="2286000"/>
          </a:xfrm>
          <a:prstGeom prst="rect">
            <a:avLst/>
          </a:prstGeom>
          <a:noFill/>
          <a:ln/>
        </p:spPr>
        <p:txBody>
          <a:bodyPr wrap="square" lIns="0" tIns="0" rIns="0" bIns="0" rtlCol="0" anchor="ctr"/>
          <a:lstStyle/>
          <a:p>
            <a:pPr indent="0" marL="0">
              <a:lnSpc>
                <a:spcPct val="112000"/>
              </a:lnSpc>
              <a:buNone/>
            </a:pPr>
            <a:r>
              <a:rPr lang="en-US" sz="3600" b="1" dirty="0">
                <a:solidFill>
                  <a:srgbClr val="FFFFFF"/>
                </a:solidFill>
                <a:latin typeface="Cambria" pitchFamily="34" charset="0"/>
                <a:ea typeface="Cambria" pitchFamily="34" charset="-122"/>
                <a:cs typeface="Cambria" pitchFamily="34" charset="-120"/>
              </a:rPr>
              <a:t>In Lecture 2: what you do about all this.</a:t>
            </a:r>
            <a:endParaRPr lang="en-US" sz="3600" dirty="0"/>
          </a:p>
        </p:txBody>
      </p:sp>
      <p:sp>
        <p:nvSpPr>
          <p:cNvPr id="3" name="Shape 1"/>
          <p:cNvSpPr/>
          <p:nvPr/>
        </p:nvSpPr>
        <p:spPr>
          <a:xfrm>
            <a:off x="960120" y="4224528"/>
            <a:ext cx="1005840" cy="32004"/>
          </a:xfrm>
          <a:prstGeom prst="rect">
            <a:avLst/>
          </a:prstGeom>
          <a:solidFill>
            <a:srgbClr val="DD5A22"/>
          </a:solidFill>
          <a:ln/>
        </p:spPr>
      </p:sp>
      <p:sp>
        <p:nvSpPr>
          <p:cNvPr id="4" name="Text 2"/>
          <p:cNvSpPr txBox="1"/>
          <p:nvPr/>
        </p:nvSpPr>
        <p:spPr>
          <a:xfrm>
            <a:off x="960120" y="4681728"/>
            <a:ext cx="9326880" cy="1325880"/>
          </a:xfrm>
          <a:prstGeom prst="rect">
            <a:avLst/>
          </a:prstGeom>
          <a:noFill/>
          <a:ln/>
        </p:spPr>
        <p:txBody>
          <a:bodyPr wrap="square" lIns="0" tIns="0" rIns="0" bIns="0" rtlCol="0" anchor="ctr"/>
          <a:lstStyle/>
          <a:p>
            <a:pPr indent="0" marL="0">
              <a:lnSpc>
                <a:spcPct val="125000"/>
              </a:lnSpc>
              <a:buNone/>
            </a:pPr>
            <a:r>
              <a:rPr lang="en-US" sz="1800" dirty="0">
                <a:solidFill>
                  <a:srgbClr val="AFC0D0"/>
                </a:solidFill>
                <a:latin typeface="Calibri" pitchFamily="34" charset="0"/>
                <a:ea typeface="Calibri" pitchFamily="34" charset="-122"/>
                <a:cs typeface="Calibri" pitchFamily="34" charset="-120"/>
              </a:rPr>
              <a:t>Repairing calibration at a new site and what it costs in labelled patients. Using ensemble disagreement to decide when a model should refuse to answer. Choosing an operating threshold from clinical costs rather than from 0.5. Borrowing strength across hospitals with hierarchical models. Then the project: six teams, one task, six different reasons not to deploy.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Penn State College of Medicine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Honest probabilities in clinical prediction</dc:title>
  <dc:subject>AI &amp; Uncertainty School and Workshop 2026, healthcare module</dc:subject>
  <dc:creator>Alireza Vafaei Sadr</dc:creator>
  <cp:lastModifiedBy>Alireza Vafaei Sadr</cp:lastModifiedBy>
  <cp:revision>1</cp:revision>
  <dcterms:created xsi:type="dcterms:W3CDTF">2026-09-06T15:47:26Z</dcterms:created>
  <dcterms:modified xsi:type="dcterms:W3CDTF">2026-09-06T15:47:26Z</dcterms:modified>
</cp:coreProperties>
</file>