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asking the room: your model says 0.30 for this patient - what does that mean? You will get ranking answers and frequency answers. That split is the whole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question sit for a moment before moving on. Do not answer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a free Colab CPU. Synthetic data, so no credentialing, and any result can be re-drawn with a new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the prior did real work. Beta(2,2) plus 10 observations gives a posterior mean of 0.71, not 0.80. Ask whether that shrinkage is a bug - it is the same mechanism that saves the small hospital in Lecture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on to that shape. In section 3 we meet the kind of uncertainty that does not go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in the notebook: recover the temperature that broke the overconfident model. It lands near 2.4 because that is how the damage was generated - recalibration works when you have correctly guessed the shape of the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only takes one thing from Lecture 1, make it this: know your aleatoric floor before you promise anyone an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many papers they have read that report a 0.01 AUROC gain as an improvement, and how many reported an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this is the slide to protect. It is the one finding in the lecture that changes what people build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notebook exercise, adding explicit missingness indicators recovers most of what median imputation destroys. Caution to carry forward: the indicator encodes local ordering practice, so it is a useful feature and a fragile one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685800" y="1371600"/>
            <a:ext cx="10789920" cy="320040"/>
          </a:xfrm>
          <a:prstGeom prst="rect">
            <a:avLst/>
          </a:prstGeom>
          <a:noFill/>
          <a:ln/>
        </p:spPr>
        <p:txBody>
          <a:bodyPr wrap="square" lIns="0" tIns="0" rIns="0" bIns="0" rtlCol="0" anchor="ctr"/>
          <a:lstStyle/>
          <a:p>
            <a:pPr indent="0" marL="0">
              <a:buNone/>
            </a:pPr>
            <a:r>
              <a:rPr lang="en-US" sz="1500" b="1" spc="200" kern="0" dirty="0">
                <a:solidFill>
                  <a:srgbClr val="DD5A22"/>
                </a:solidFill>
                <a:latin typeface="Calibri" pitchFamily="34" charset="0"/>
                <a:ea typeface="Calibri" pitchFamily="34" charset="-122"/>
                <a:cs typeface="Calibri" pitchFamily="34" charset="-120"/>
              </a:rPr>
              <a:t>HEALTHCARE AI MODULE  ·  LECTURE 1</a:t>
            </a:r>
            <a:endParaRPr lang="en-US" sz="1500" dirty="0"/>
          </a:p>
        </p:txBody>
      </p:sp>
      <p:sp>
        <p:nvSpPr>
          <p:cNvPr id="3" name="Text 1"/>
          <p:cNvSpPr txBox="1"/>
          <p:nvPr/>
        </p:nvSpPr>
        <p:spPr>
          <a:xfrm>
            <a:off x="685800" y="1828800"/>
            <a:ext cx="1042416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Honest probabilities in</a:t>
            </a:r>
            <a:endParaRPr lang="en-US" sz="4600" dirty="0"/>
          </a:p>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clinical prediction</a:t>
            </a:r>
            <a:endParaRPr lang="en-US" sz="4600" dirty="0"/>
          </a:p>
        </p:txBody>
      </p:sp>
      <p:sp>
        <p:nvSpPr>
          <p:cNvPr id="4" name="Text 2"/>
          <p:cNvSpPr txBox="1"/>
          <p:nvPr/>
        </p:nvSpPr>
        <p:spPr>
          <a:xfrm>
            <a:off x="685800" y="3703320"/>
            <a:ext cx="9418320" cy="822960"/>
          </a:xfrm>
          <a:prstGeom prst="rect">
            <a:avLst/>
          </a:prstGeom>
          <a:noFill/>
          <a:ln/>
        </p:spPr>
        <p:txBody>
          <a:bodyPr wrap="square" lIns="0" tIns="0" rIns="0" bIns="0" rtlCol="0" anchor="ctr"/>
          <a:lstStyle/>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AI &amp; Uncertainty School and Workshop 2026</a:t>
            </a:r>
            <a:endParaRPr lang="en-US" sz="1900" dirty="0"/>
          </a:p>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Mauritius, 16-20 November</a:t>
            </a:r>
            <a:endParaRPr lang="en-US" sz="1900" dirty="0"/>
          </a:p>
        </p:txBody>
      </p:sp>
      <p:sp>
        <p:nvSpPr>
          <p:cNvPr id="5" name="Shape 3"/>
          <p:cNvSpPr/>
          <p:nvPr/>
        </p:nvSpPr>
        <p:spPr>
          <a:xfrm>
            <a:off x="685800" y="4892040"/>
            <a:ext cx="1005840" cy="32004"/>
          </a:xfrm>
          <a:prstGeom prst="rect">
            <a:avLst/>
          </a:prstGeom>
          <a:solidFill>
            <a:srgbClr val="DD5A22"/>
          </a:solidFill>
          <a:ln/>
        </p:spPr>
      </p:sp>
      <p:sp>
        <p:nvSpPr>
          <p:cNvPr id="6" name="Text 4"/>
          <p:cNvSpPr txBox="1"/>
          <p:nvPr/>
        </p:nvSpPr>
        <p:spPr>
          <a:xfrm>
            <a:off x="685800" y="5166360"/>
            <a:ext cx="10789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Alireza Vafaei Sadr</a:t>
            </a:r>
            <a:endParaRPr lang="en-US" sz="1600" dirty="0"/>
          </a:p>
        </p:txBody>
      </p:sp>
      <p:sp>
        <p:nvSpPr>
          <p:cNvPr id="7" name="Text 5"/>
          <p:cNvSpPr txBox="1"/>
          <p:nvPr/>
        </p:nvSpPr>
        <p:spPr>
          <a:xfrm>
            <a:off x="685800" y="5532120"/>
            <a:ext cx="10789920" cy="32004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Penn State College of Medicine  ·  github.com/vafaei-ar/ai-uncertainty-2026-healthcare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7"/>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A deployed model does not output a ranking.</a:t>
            </a:r>
            <a:endParaRPr lang="en-US" sz="3600" dirty="0"/>
          </a:p>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It outputs a number a tired registrar at 3am</a:t>
            </a:r>
            <a:endParaRPr lang="en-US" sz="3600" dirty="0"/>
          </a:p>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will read as a probability, and act on.</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3A4A59"/>
                </a:solidFill>
                <a:latin typeface="Calibri" pitchFamily="34" charset="0"/>
                <a:ea typeface="Calibri" pitchFamily="34" charset="-122"/>
                <a:cs typeface="Calibri" pitchFamily="34" charset="-120"/>
              </a:rPr>
              <a:t>This session is about whether that number deserves to be read that way.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WHERE WE ARE GOING</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Six ideas, one hour and a half</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 point estimate is not an answer</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Posteriors, intervals, and what evidence actually buys you</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Discrimination versus calibration</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Only one of them survives a change of hospital</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Epistemic versus aleatoric</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 distinction decides what you do next</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 synthetic EHR you can break</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Every failure mode is a named argument</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The model meets a second hospital</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And which monitoring check notices</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The information in a blank cell</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Missingness is a recorded clinical decision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1</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point estimate is not an answer</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new sepsis alert has fired 10 times. 8 of those led to an intervention the team judged appropriate. Is the alert useful?</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TEN ALERTS, EIGHT OF THEM USEFUL</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Three honest ways to report the same evidence</a:t>
            </a:r>
            <a:endParaRPr lang="en-US" sz="3000" dirty="0"/>
          </a:p>
        </p:txBody>
      </p:sp>
      <p:sp>
        <p:nvSpPr>
          <p:cNvPr id="4" name="Shape 2"/>
          <p:cNvSpPr/>
          <p:nvPr/>
        </p:nvSpPr>
        <p:spPr>
          <a:xfrm>
            <a:off x="685800" y="1828800"/>
            <a:ext cx="3383280" cy="2514600"/>
          </a:xfrm>
          <a:prstGeom prst="roundRect">
            <a:avLst>
              <a:gd name="adj" fmla="val 2909"/>
            </a:avLst>
          </a:prstGeom>
          <a:solidFill>
            <a:srgbClr val="F2F5F7"/>
          </a:solidFill>
          <a:ln/>
        </p:spPr>
      </p:sp>
      <p:sp>
        <p:nvSpPr>
          <p:cNvPr id="5" name="Text 3"/>
          <p:cNvSpPr txBox="1"/>
          <p:nvPr/>
        </p:nvSpPr>
        <p:spPr>
          <a:xfrm>
            <a:off x="868680" y="2103120"/>
            <a:ext cx="301752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0.80</a:t>
            </a:r>
            <a:endParaRPr lang="en-US" sz="4600" dirty="0"/>
          </a:p>
        </p:txBody>
      </p:sp>
      <p:sp>
        <p:nvSpPr>
          <p:cNvPr id="6" name="Text 4"/>
          <p:cNvSpPr txBox="1"/>
          <p:nvPr/>
        </p:nvSpPr>
        <p:spPr>
          <a:xfrm>
            <a:off x="86868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Point estimate</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what gets reported</a:t>
            </a:r>
            <a:endParaRPr lang="en-US" sz="1500" dirty="0"/>
          </a:p>
        </p:txBody>
      </p:sp>
      <p:sp>
        <p:nvSpPr>
          <p:cNvPr id="7" name="Shape 5"/>
          <p:cNvSpPr/>
          <p:nvPr/>
        </p:nvSpPr>
        <p:spPr>
          <a:xfrm>
            <a:off x="4389120" y="1828800"/>
            <a:ext cx="3383280" cy="2514600"/>
          </a:xfrm>
          <a:prstGeom prst="roundRect">
            <a:avLst>
              <a:gd name="adj" fmla="val 2909"/>
            </a:avLst>
          </a:prstGeom>
          <a:solidFill>
            <a:srgbClr val="F2F5F7"/>
          </a:solidFill>
          <a:ln/>
        </p:spPr>
      </p:sp>
      <p:sp>
        <p:nvSpPr>
          <p:cNvPr id="8" name="Text 6"/>
          <p:cNvSpPr txBox="1"/>
          <p:nvPr/>
        </p:nvSpPr>
        <p:spPr>
          <a:xfrm>
            <a:off x="4572000" y="2103120"/>
            <a:ext cx="3017520" cy="1005840"/>
          </a:xfrm>
          <a:prstGeom prst="rect">
            <a:avLst/>
          </a:prstGeom>
          <a:noFill/>
          <a:ln/>
        </p:spPr>
        <p:txBody>
          <a:bodyPr wrap="square" lIns="0" tIns="0" rIns="0" bIns="0" rtlCol="0" anchor="ctr"/>
          <a:lstStyle/>
          <a:p>
            <a:pPr algn="ctr" indent="0" marL="0">
              <a:buNone/>
            </a:pPr>
            <a:r>
              <a:rPr lang="en-US" sz="4600" b="1" dirty="0">
                <a:solidFill>
                  <a:srgbClr val="DD5A22"/>
                </a:solidFill>
                <a:latin typeface="Cambria" pitchFamily="34" charset="0"/>
                <a:ea typeface="Cambria" pitchFamily="34" charset="-122"/>
                <a:cs typeface="Cambria" pitchFamily="34" charset="-120"/>
              </a:rPr>
              <a:t>0.71</a:t>
            </a:r>
            <a:endParaRPr lang="en-US" sz="4600" dirty="0"/>
          </a:p>
        </p:txBody>
      </p:sp>
      <p:sp>
        <p:nvSpPr>
          <p:cNvPr id="9" name="Text 7"/>
          <p:cNvSpPr txBox="1"/>
          <p:nvPr/>
        </p:nvSpPr>
        <p:spPr>
          <a:xfrm>
            <a:off x="457200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Posterior mean</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under a Beta(2,2) prior</a:t>
            </a:r>
            <a:endParaRPr lang="en-US" sz="1500" dirty="0"/>
          </a:p>
        </p:txBody>
      </p:sp>
      <p:sp>
        <p:nvSpPr>
          <p:cNvPr id="10" name="Shape 8"/>
          <p:cNvSpPr/>
          <p:nvPr/>
        </p:nvSpPr>
        <p:spPr>
          <a:xfrm>
            <a:off x="8092440" y="1828800"/>
            <a:ext cx="3383280" cy="2514600"/>
          </a:xfrm>
          <a:prstGeom prst="roundRect">
            <a:avLst>
              <a:gd name="adj" fmla="val 2909"/>
            </a:avLst>
          </a:prstGeom>
          <a:solidFill>
            <a:srgbClr val="F2F5F7"/>
          </a:solidFill>
          <a:ln/>
        </p:spPr>
      </p:sp>
      <p:sp>
        <p:nvSpPr>
          <p:cNvPr id="11" name="Text 9"/>
          <p:cNvSpPr txBox="1"/>
          <p:nvPr/>
        </p:nvSpPr>
        <p:spPr>
          <a:xfrm>
            <a:off x="8275320" y="2103120"/>
            <a:ext cx="3017520" cy="1005840"/>
          </a:xfrm>
          <a:prstGeom prst="rect">
            <a:avLst/>
          </a:prstGeom>
          <a:noFill/>
          <a:ln/>
        </p:spPr>
        <p:txBody>
          <a:bodyPr wrap="square" lIns="0" tIns="0" rIns="0" bIns="0" rtlCol="0" anchor="ctr"/>
          <a:lstStyle/>
          <a:p>
            <a:pPr algn="ctr" indent="0" marL="0">
              <a:buNone/>
            </a:pPr>
            <a:r>
              <a:rPr lang="en-US" sz="3400" b="1" dirty="0">
                <a:solidFill>
                  <a:srgbClr val="0E8F6E"/>
                </a:solidFill>
                <a:latin typeface="Cambria" pitchFamily="34" charset="0"/>
                <a:ea typeface="Cambria" pitchFamily="34" charset="-122"/>
                <a:cs typeface="Cambria" pitchFamily="34" charset="-120"/>
              </a:rPr>
              <a:t>0.46 - 0.91</a:t>
            </a:r>
            <a:endParaRPr lang="en-US" sz="3400" dirty="0"/>
          </a:p>
        </p:txBody>
      </p:sp>
      <p:sp>
        <p:nvSpPr>
          <p:cNvPr id="12" name="Text 10"/>
          <p:cNvSpPr txBox="1"/>
          <p:nvPr/>
        </p:nvSpPr>
        <p:spPr>
          <a:xfrm>
            <a:off x="827532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95% credible interval</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what you actually know</a:t>
            </a:r>
            <a:endParaRPr lang="en-US" sz="1500" dirty="0"/>
          </a:p>
        </p:txBody>
      </p:sp>
      <p:sp>
        <p:nvSpPr>
          <p:cNvPr id="13" name="Text 11"/>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The point estimate says 0.80. The interval says the true rate is somewhere between roughly one in two and nine in ten. Those two statements support very different decisions, and only one of them is honest about ten observations.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BAYESIAN UPDATING</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Evidence narrows belief, it does not settle it</a:t>
            </a:r>
            <a:endParaRPr lang="en-US" sz="3000" dirty="0"/>
          </a:p>
        </p:txBody>
      </p:sp>
      <p:pic>
        <p:nvPicPr>
          <p:cNvPr id="4" name="Image 0" descr="figures/l1_posterior.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95% interval width falls from 0.45 at n = 10 to 0.05 at n = 1000 - roughly as 1 over the square root of n. This is epistemic uncertainty: a statement about what you do not yet know, and data removes it.</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2</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Discrimination is not calibration</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One asks about order. The other asks about meaning. Deployment breaks meaning first.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TWO DIFFERENT QUESTIONS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What each metric is actually asking</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AUROC asks about order</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Given a patient who deteriorated and one who did not, how often does the model score the first one higher?</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Invariant to prevalence.</a:t>
            </a: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Invariant to any monotone rescaling.</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Those are exactly the two things that change when you move a model to a new hospital.</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Calibration asks about meaning</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Among the patients you assigned a risk of 0.3, did about 30% actually deteriorate?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Measured by Brier score, log loss, expected calibration error, and the reliability curve.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This is the property a threshold, a bed allocation and a clinical conversation all depend on.</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The metric most often reported is the metric most blind to the most common deployment failure.</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THREE MONOTONE TRANSFORMATIONS OF ONE SCORE</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Same ranking. Same AUROC to four decimals.</a:t>
            </a:r>
            <a:endParaRPr lang="en-US" sz="3000" dirty="0"/>
          </a:p>
        </p:txBody>
      </p:sp>
      <p:pic>
        <p:nvPicPr>
          <p:cNvPr id="4" name="Image 0" descr="figures/l1_calibration.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overconfident model promises a risk far above what the ward delivers, so a fixed threshold floods the ICU. The timid model does the opposite and lets patients through. AUROC cannot tell them apart; Brier, log loss and ECE separate them immediately.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Epistemic and aleatoric uncertainty</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Two reasons a prediction can be uncertain, and only one of them is a modelling problem.</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DISTINCTION IS NOT ACADEMIC</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It determines what you should do next</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Epistemic</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You are unsure about the model, because you have seen few patients like this one.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Shrinks as you collect more of the same kind of data.</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Response: collect more records. Or refuse to answer for patients outside the region you have covered.</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Aleatoric</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The outcome is genuinely stochastic given everything you recorded. Two identical charts, different outcomes.</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Does not shrink with more of the same data.</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Response: measure something new. No amount of extra rows on the same columns will help.</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Collapse them into one number and you lose the ability to say which response is the right one.</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BOOTSTRAP ENSEMBLE OVER FOUR TRAINING SIZES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More data removes one of these, not the other</a:t>
            </a:r>
            <a:endParaRPr lang="en-US" sz="3000" dirty="0"/>
          </a:p>
        </p:txBody>
      </p:sp>
      <p:pic>
        <p:nvPicPr>
          <p:cNvPr id="4" name="Image 0" descr="figures/l1_epistemic.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Epistemic uncertainty falls steadily from 250 to 16,000 training patients. Aleatoric uncertainty barely moves - it is a property of the cohort, not of your sample size.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ALEATORIC FLOOR, MADE VISIBLE</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The gap to a perfect model was never in your columns</a:t>
            </a:r>
            <a:endParaRPr lang="en-US" sz="3000" dirty="0"/>
          </a:p>
        </p:txBody>
      </p:sp>
      <p:pic>
        <p:nvPicPr>
          <p:cNvPr id="4" name="Image 0" descr="figures/l1_ceiling.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An unrecorded impression</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The simulator holds a clinical-concern variable that moves the outcome and appears in no column - exactly like the thing the nurse noticed at the bedside.</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Our model is at the ceiling</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0.719 fitted against a 0.725 ceiling on the recorded features. There is almost nothing left to extract from these columns.</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Not a deeper network</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Moving the ceiling means recording something new. When a reviewer asks why AUROC is not 0.90, that is a claim about the data, not an apology.</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synthetic EHR you can break on purpose</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Vitals, labs, comorbidities and a 48-hour deterioration outcome. Every failure mode is a named argument.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SIMULATOR'S FAILURE-MODE KNOBS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Turn one on, watch what it does, turn it off</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789920" cy="914400"/>
        </p:xfrm>
        <a:graphic>
          <a:graphicData uri="http://schemas.openxmlformats.org/drawingml/2006/table">
            <a:tbl>
              <a:tblPr/>
              <a:tblGrid>
                <a:gridCol w="3291840"/>
                <a:gridCol w="749808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Argument</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represents in a hospital</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prevalence_shift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Baseline risk differs between hospitals</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measurement_noise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Instruments and assays drift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missingness_strength</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Labs get ordered for a reason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label_noise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Chart review is imperfect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subgroup_shift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A subgroup carries different baseline risk</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subgroup_interaction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...or a different risk relationship entirely</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ood_fraction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Patients unlike anything in development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85800" y="5623560"/>
            <a:ext cx="10789920" cy="822960"/>
          </a:xfrm>
          <a:prstGeom prst="rect">
            <a:avLst/>
          </a:prstGeom>
          <a:noFill/>
          <a:ln/>
        </p:spPr>
        <p:txBody>
          <a:bodyPr wrap="square" lIns="0" tIns="0" rIns="0" bIns="0" rtlCol="0" anchor="ctr"/>
          <a:lstStyle/>
          <a:p>
            <a:pPr indent="0" marL="0">
              <a:lnSpc>
                <a:spcPct val="120000"/>
              </a:lnSpc>
              <a:buNone/>
            </a:pPr>
            <a:r>
              <a:rPr lang="en-US" sz="1550" dirty="0">
                <a:solidFill>
                  <a:srgbClr val="3A4A59"/>
                </a:solidFill>
                <a:latin typeface="Calibri" pitchFamily="34" charset="0"/>
                <a:ea typeface="Calibri" pitchFamily="34" charset="-122"/>
                <a:cs typeface="Calibri" pitchFamily="34" charset="-120"/>
              </a:rPr>
              <a:t>Each of the six becomes one team's hidden problem in the project block this afternoon.</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ROW THAT GETS REPORTED IN A PAPER</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A respectable internal validation - with an interval on it</a:t>
            </a:r>
            <a:endParaRPr lang="en-US" sz="3000" dirty="0"/>
          </a:p>
        </p:txBody>
      </p:sp>
      <p:sp>
        <p:nvSpPr>
          <p:cNvPr id="4" name="Shape 2"/>
          <p:cNvSpPr/>
          <p:nvPr/>
        </p:nvSpPr>
        <p:spPr>
          <a:xfrm>
            <a:off x="685800" y="1828800"/>
            <a:ext cx="3383280" cy="2514600"/>
          </a:xfrm>
          <a:prstGeom prst="roundRect">
            <a:avLst>
              <a:gd name="adj" fmla="val 2909"/>
            </a:avLst>
          </a:prstGeom>
          <a:solidFill>
            <a:srgbClr val="F2F5F7"/>
          </a:solidFill>
          <a:ln/>
        </p:spPr>
      </p:sp>
      <p:sp>
        <p:nvSpPr>
          <p:cNvPr id="5" name="Text 3"/>
          <p:cNvSpPr txBox="1"/>
          <p:nvPr/>
        </p:nvSpPr>
        <p:spPr>
          <a:xfrm>
            <a:off x="868680" y="2103120"/>
            <a:ext cx="301752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0.727</a:t>
            </a:r>
            <a:endParaRPr lang="en-US" sz="4600" dirty="0"/>
          </a:p>
        </p:txBody>
      </p:sp>
      <p:sp>
        <p:nvSpPr>
          <p:cNvPr id="6" name="Text 4"/>
          <p:cNvSpPr txBox="1"/>
          <p:nvPr/>
        </p:nvSpPr>
        <p:spPr>
          <a:xfrm>
            <a:off x="86868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Validation AUROC</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the number that gets published</a:t>
            </a:r>
            <a:endParaRPr lang="en-US" sz="1500" dirty="0"/>
          </a:p>
        </p:txBody>
      </p:sp>
      <p:sp>
        <p:nvSpPr>
          <p:cNvPr id="7" name="Shape 5"/>
          <p:cNvSpPr/>
          <p:nvPr/>
        </p:nvSpPr>
        <p:spPr>
          <a:xfrm>
            <a:off x="4389120" y="1828800"/>
            <a:ext cx="3383280" cy="2514600"/>
          </a:xfrm>
          <a:prstGeom prst="roundRect">
            <a:avLst>
              <a:gd name="adj" fmla="val 2909"/>
            </a:avLst>
          </a:prstGeom>
          <a:solidFill>
            <a:srgbClr val="F2F5F7"/>
          </a:solidFill>
          <a:ln/>
        </p:spPr>
      </p:sp>
      <p:sp>
        <p:nvSpPr>
          <p:cNvPr id="8" name="Text 6"/>
          <p:cNvSpPr txBox="1"/>
          <p:nvPr/>
        </p:nvSpPr>
        <p:spPr>
          <a:xfrm>
            <a:off x="4572000" y="2103120"/>
            <a:ext cx="3017520" cy="1005840"/>
          </a:xfrm>
          <a:prstGeom prst="rect">
            <a:avLst/>
          </a:prstGeom>
          <a:noFill/>
          <a:ln/>
        </p:spPr>
        <p:txBody>
          <a:bodyPr wrap="square" lIns="0" tIns="0" rIns="0" bIns="0" rtlCol="0" anchor="ctr"/>
          <a:lstStyle/>
          <a:p>
            <a:pPr algn="ctr" indent="0" marL="0">
              <a:buNone/>
            </a:pPr>
            <a:r>
              <a:rPr lang="en-US" sz="3400" b="1" dirty="0">
                <a:solidFill>
                  <a:srgbClr val="DD5A22"/>
                </a:solidFill>
                <a:latin typeface="Cambria" pitchFamily="34" charset="0"/>
                <a:ea typeface="Cambria" pitchFamily="34" charset="-122"/>
                <a:cs typeface="Cambria" pitchFamily="34" charset="-120"/>
              </a:rPr>
              <a:t>0.699 - 0.754</a:t>
            </a:r>
            <a:endParaRPr lang="en-US" sz="3400" dirty="0"/>
          </a:p>
        </p:txBody>
      </p:sp>
      <p:sp>
        <p:nvSpPr>
          <p:cNvPr id="9" name="Text 7"/>
          <p:cNvSpPr txBox="1"/>
          <p:nvPr/>
        </p:nvSpPr>
        <p:spPr>
          <a:xfrm>
            <a:off x="457200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95% bootstrap interval</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on 2400 patients</a:t>
            </a:r>
            <a:endParaRPr lang="en-US" sz="1500" dirty="0"/>
          </a:p>
        </p:txBody>
      </p:sp>
      <p:sp>
        <p:nvSpPr>
          <p:cNvPr id="10" name="Shape 8"/>
          <p:cNvSpPr/>
          <p:nvPr/>
        </p:nvSpPr>
        <p:spPr>
          <a:xfrm>
            <a:off x="8092440" y="1828800"/>
            <a:ext cx="3383280" cy="2514600"/>
          </a:xfrm>
          <a:prstGeom prst="roundRect">
            <a:avLst>
              <a:gd name="adj" fmla="val 2909"/>
            </a:avLst>
          </a:prstGeom>
          <a:solidFill>
            <a:srgbClr val="F2F5F7"/>
          </a:solidFill>
          <a:ln/>
        </p:spPr>
      </p:sp>
      <p:sp>
        <p:nvSpPr>
          <p:cNvPr id="11" name="Text 9"/>
          <p:cNvSpPr txBox="1"/>
          <p:nvPr/>
        </p:nvSpPr>
        <p:spPr>
          <a:xfrm>
            <a:off x="8275320" y="2103120"/>
            <a:ext cx="3017520" cy="1005840"/>
          </a:xfrm>
          <a:prstGeom prst="rect">
            <a:avLst/>
          </a:prstGeom>
          <a:noFill/>
          <a:ln/>
        </p:spPr>
        <p:txBody>
          <a:bodyPr wrap="square" lIns="0" tIns="0" rIns="0" bIns="0" rtlCol="0" anchor="ctr"/>
          <a:lstStyle/>
          <a:p>
            <a:pPr algn="ctr" indent="0" marL="0">
              <a:buNone/>
            </a:pPr>
            <a:r>
              <a:rPr lang="en-US" sz="4600" b="1" dirty="0">
                <a:solidFill>
                  <a:srgbClr val="0E8F6E"/>
                </a:solidFill>
                <a:latin typeface="Cambria" pitchFamily="34" charset="0"/>
                <a:ea typeface="Cambria" pitchFamily="34" charset="-122"/>
                <a:cs typeface="Cambria" pitchFamily="34" charset="-120"/>
              </a:rPr>
              <a:t>0.056</a:t>
            </a:r>
            <a:endParaRPr lang="en-US" sz="4600" dirty="0"/>
          </a:p>
        </p:txBody>
      </p:sp>
      <p:sp>
        <p:nvSpPr>
          <p:cNvPr id="12" name="Text 10"/>
          <p:cNvSpPr txBox="1"/>
          <p:nvPr/>
        </p:nvSpPr>
        <p:spPr>
          <a:xfrm>
            <a:off x="827532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Interval width</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wider than most claimed gains</a:t>
            </a:r>
            <a:endParaRPr lang="en-US" sz="1500" dirty="0"/>
          </a:p>
        </p:txBody>
      </p:sp>
      <p:sp>
        <p:nvSpPr>
          <p:cNvPr id="13" name="Text 11"/>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Two models whose AUROCs differ by 0.01, or by 0.02, are indistinguishable on this much data. A large share of reported improvements in the clinical ML literature are narrower than this interval, and are reported without one.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5</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model meets a second hospital</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Site B has a sicker intake. Site C runs older analysers. Nothing about the model changes.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SAME MODEL, THREE HOSPITALS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Ranking transfers. The numbers do not.</a:t>
            </a:r>
            <a:endParaRPr lang="en-US" sz="3000" dirty="0"/>
          </a:p>
        </p:txBody>
      </p:sp>
      <p:pic>
        <p:nvPicPr>
          <p:cNvPr id="4" name="Image 0" descr="figures/l1_shift_calibration.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At site B, AUROC holds up and the model understates risk by roughly a factor of two across the whole range. Leave the alert threshold at 0.5 and the model essentially stops firing on a ward where a quarter of patients deteriorate.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COULD YOU HAVE SEEN IT COMING, WITHOUT WAITING FOR OUTCOMES?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Covariate monitoring sees one of these two failures</a:t>
            </a:r>
            <a:endParaRPr lang="en-US" sz="3000" dirty="0"/>
          </a:p>
        </p:txBody>
      </p:sp>
      <p:pic>
        <p:nvPicPr>
          <p:cNvPr id="4" name="Image 0" descr="figures/l1_shift_detection.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Site C is visible on day one</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Standardised mean differences on lactate, creatinine and WBC are large. A drift alarm fires immediately, with no outcome labels.</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Site B is invisible</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Every standardised mean difference is under 0.03. The covariate distribution is unchanged. What moved is the conditional risk.</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So the alarm is structural</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Input monitoring catches shifts in P(X) and is blind to shifts in P(Y|X) by construction. No dashboard tuning fixes that.</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Prospective label collection is not optional</a:t>
            </a:r>
            <a:endParaRPr lang="en-US" sz="3600" dirty="0"/>
          </a:p>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infrastructure. It is the monitoring system.</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Most deployed monitoring is an input-drift dashboard. It catches one of the two common failures and is structurally blind to the other. If you can only fund one thing after go-live, fund the outcome data.</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6</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information in a blank cell</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lab is missing because nobody ordered it, and nobody ordered it because nobody was worried.</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MISSING NOT AT RANDOM</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Two standard responses, both wrong</a:t>
            </a:r>
            <a:endParaRPr lang="en-US" sz="3000" dirty="0"/>
          </a:p>
        </p:txBody>
      </p:sp>
      <p:pic>
        <p:nvPicPr>
          <p:cNvPr id="4" name="Image 0" descr="figures/l1_missingness.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Patients whose creatinine was never sent deteriorate at well under half the rate of those whose was. Drop the incomplete rows and you keep 46% of the ward - silently selected toward the sickest, with an event rate of 0.217 against 0.150 overall.</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LECTURE 1</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What to take away</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Report a distribution, or an interval</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 point estimate on ten observations is not a finding</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AUROC measures order, not meaning</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Deployment breaks meaning first</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Separate the two uncertainties</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They call for different responses</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Know your aleatoric floor</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Some of the gap was never in your columns</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Input monitoring has a blind spot</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Plan label collection accordingly</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Missingness is a recorded decision</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Model it. Never drop the rows.</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In Lecture 2: what you do about all this.</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Repairing calibration at a new site and what it costs in labelled patients. Using ensemble disagreement to decide when a model should refuse to answer. Choosing an operating threshold from clinical costs rather than from 0.5. Borrowing strength across hospitals with hierarchical models. Then the project: six teams, one task, six different reasons not to deploy.</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Penn State College of Medicine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Honest probabilities in clinical prediction</dc:title>
  <dc:subject>AI &amp; Uncertainty School and Workshop 2026, healthcare module</dc:subject>
  <dc:creator>Alireza Vafaei Sadr</dc:creator>
  <cp:lastModifiedBy>Alireza Vafaei Sadr</cp:lastModifiedBy>
  <cp:revision>1</cp:revision>
  <dcterms:created xsi:type="dcterms:W3CDTF">2026-09-06T02:40:49Z</dcterms:created>
  <dcterms:modified xsi:type="dcterms:W3CDTF">2026-09-06T02:40:50Z</dcterms:modified>
</cp:coreProperties>
</file>