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if the model is recalibrated on the first 100 patients of a seasonal wave. The correction inherits whatever period it was estimated in - recalibration is a maintenance commitment, not a one-off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exercise: a service that can review 20% of admissions by hand builds a two-stage rule - epistemic gate first, then spend whatever budget remains on the most borderline of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R come from? Not from the data - from the service. ICU bed availability, staffing, what the escalation actually involves. Getting a clinician to state R is often the most valuable hour of a deployment project, and the number is rarely what the modelling team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report stratified: by every categorical column, by age band, and by whether key labs were recorded. If a stratum is too small to evaluate, that is itself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principled answer to the subgroup problem: give the small group its own parameters, and let the data decide how far to shrink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04 does this with the sbi package and includes a coverage check - the neural posterior is sharper but slightly over-confident, which ties straight back to the calibration theme of Lecture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2</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Deciding under</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uncertainty</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LECTURE 1 LEFT OFF</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good model, offered to a new hospital</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0.26</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Observed event rate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the new ward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0.15</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Mean predicted risk</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model's claim</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0.71</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barely moved</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ranking transferred. The numbers did not. The model tells site B that 15% of their ward is at risk while 26% of it deteriorates. This lecture is about what you do next.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From a broken number to a defensible decision</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Repairing calibration</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what it costs in labelled patients from the new site</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Ensembles as an epistemic signal</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one check you can run with no outcome data</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Letting the model abstain</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Risk-coverage curves and who gets deferred</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Thresholds from clinical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Not from 0.5, and usually far lower than expected</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Subgroup reliability</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Why the aggregate number lies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Hierarchy and simulators</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Borrowing strength, and posteriors without a likelihood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Recalibration, and what it costs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Every repair needs labelled patients from the new site. That is the real cost of deployment, and it is usually left out of the project plan.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REPAIRS, INCREASING FLEXIBILITY</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Match the fix to the labels you can actually get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743200"/>
                <a:gridCol w="1005840"/>
                <a:gridCol w="484632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fits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Params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When it is the right choice</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Intercept correction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shift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Prevalence changed, the risk ordering did not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Platt scaling</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Slope and intercept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Ordering is right but the spread is wrong too</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Isotonic regression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Any monotone map</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many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Plenty of labels and a distortion of unknown shape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None of the three reorders anyone, so AUROC is untouched by all of them. What they repair is the meaning of the numbers.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SITE B, RECALIBRATED ON 2400 LABELLED PATIENTS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parameter fixes most of it</a:t>
            </a:r>
            <a:endParaRPr lang="en-US" sz="3000" dirty="0"/>
          </a:p>
        </p:txBody>
      </p:sp>
      <p:pic>
        <p:nvPicPr>
          <p:cNvPr id="4" name="Image 0" descr="figures/l2_re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 single intercept recovers most of the gain, because a single intercept is exactly the damage that was done. Brier, log loss and ECE improve sharply; AUROC does not move at all.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HOW MANY CHARTS DOES A FIX ACTUALLY NEED?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Flexibility you cannot afford makes things worse</a:t>
            </a:r>
            <a:endParaRPr lang="en-US" sz="3000" dirty="0"/>
          </a:p>
        </p:txBody>
      </p:sp>
      <p:pic>
        <p:nvPicPr>
          <p:cNvPr id="4" name="Image 0" descr="figures/l2_calibration_cost.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One parameter, 100 charts</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intercept correction is close to its ceiling at around 100 labelled patients from the new site.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Isotonic needs 10x more</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Below a few hundred labels it is worse than doing nothing at all - it spends its flexibility fitting noise.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plan the label budget</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 one-parameter fix on 100 charts performs better than the more flexible alternative in this simulation.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Ensembles as an epistemic signal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Refit on bootstrap resamples. Where the models agree, the data pinned the answer down. Where they disagree, the prediction is an extrapolation.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WARD WHERE 30% OF PATIENTS ARE UNLIKE ANYTHING IN DEVELOPMENT</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In this simulation, disagreement flags unfamiliar patients</a:t>
            </a:r>
            <a:endParaRPr lang="en-US" sz="3000" dirty="0"/>
          </a:p>
        </p:txBody>
      </p:sp>
      <p:pic>
        <p:nvPicPr>
          <p:cNvPr id="4" name="Image 0" descr="figures/l2_ensemble_ood.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threshold is the 95th percentile of disagreement measured on the development data alone - so it can be set before the model goes live.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GATE SET ON DEVELOPMENT DATA, APPLIED TO A NEW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check you can run on day one</a:t>
            </a:r>
            <a:endParaRPr lang="en-US" sz="3000" dirty="0"/>
          </a:p>
        </p:txBody>
      </p:sp>
      <p:sp>
        <p:nvSpPr>
          <p:cNvPr id="4" name="Shape 2"/>
          <p:cNvSpPr/>
          <p:nvPr/>
        </p:nvSpPr>
        <p:spPr>
          <a:xfrm>
            <a:off x="685800" y="1828800"/>
            <a:ext cx="2457450" cy="2514600"/>
          </a:xfrm>
          <a:prstGeom prst="roundRect">
            <a:avLst>
              <a:gd name="adj" fmla="val 2977"/>
            </a:avLst>
          </a:prstGeom>
          <a:solidFill>
            <a:srgbClr val="F2F5F7"/>
          </a:solidFill>
          <a:ln/>
        </p:spPr>
      </p:sp>
      <p:sp>
        <p:nvSpPr>
          <p:cNvPr id="5" name="Text 3"/>
          <p:cNvSpPr txBox="1"/>
          <p:nvPr/>
        </p:nvSpPr>
        <p:spPr>
          <a:xfrm>
            <a:off x="868680" y="2103120"/>
            <a:ext cx="209169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25%</a:t>
            </a:r>
            <a:endParaRPr lang="en-US" sz="4600" dirty="0"/>
          </a:p>
        </p:txBody>
      </p:sp>
      <p:sp>
        <p:nvSpPr>
          <p:cNvPr id="6" name="Text 4"/>
          <p:cNvSpPr txBox="1"/>
          <p:nvPr/>
        </p:nvSpPr>
        <p:spPr>
          <a:xfrm>
            <a:off x="86868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new ward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flagged by the gate</a:t>
            </a:r>
            <a:endParaRPr lang="en-US" sz="1500" dirty="0"/>
          </a:p>
        </p:txBody>
      </p:sp>
      <p:sp>
        <p:nvSpPr>
          <p:cNvPr id="7" name="Shape 5"/>
          <p:cNvSpPr/>
          <p:nvPr/>
        </p:nvSpPr>
        <p:spPr>
          <a:xfrm>
            <a:off x="3463290" y="1828800"/>
            <a:ext cx="2457450" cy="2514600"/>
          </a:xfrm>
          <a:prstGeom prst="roundRect">
            <a:avLst>
              <a:gd name="adj" fmla="val 2977"/>
            </a:avLst>
          </a:prstGeom>
          <a:solidFill>
            <a:srgbClr val="F2F5F7"/>
          </a:solidFill>
          <a:ln/>
        </p:spPr>
      </p:sp>
      <p:sp>
        <p:nvSpPr>
          <p:cNvPr id="8" name="Text 6"/>
          <p:cNvSpPr txBox="1"/>
          <p:nvPr/>
        </p:nvSpPr>
        <p:spPr>
          <a:xfrm>
            <a:off x="3646170" y="2103120"/>
            <a:ext cx="209169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87%</a:t>
            </a:r>
            <a:endParaRPr lang="en-US" sz="4600" dirty="0"/>
          </a:p>
        </p:txBody>
      </p:sp>
      <p:sp>
        <p:nvSpPr>
          <p:cNvPr id="9" name="Text 7"/>
          <p:cNvSpPr txBox="1"/>
          <p:nvPr/>
        </p:nvSpPr>
        <p:spPr>
          <a:xfrm>
            <a:off x="364617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those flagged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are genuinely out-of-distribution</a:t>
            </a:r>
            <a:endParaRPr lang="en-US" sz="1500" dirty="0"/>
          </a:p>
        </p:txBody>
      </p:sp>
      <p:sp>
        <p:nvSpPr>
          <p:cNvPr id="10" name="Shape 8"/>
          <p:cNvSpPr/>
          <p:nvPr/>
        </p:nvSpPr>
        <p:spPr>
          <a:xfrm>
            <a:off x="6240780" y="1828800"/>
            <a:ext cx="2457450" cy="2514600"/>
          </a:xfrm>
          <a:prstGeom prst="roundRect">
            <a:avLst>
              <a:gd name="adj" fmla="val 2977"/>
            </a:avLst>
          </a:prstGeom>
          <a:solidFill>
            <a:srgbClr val="F2F5F7"/>
          </a:solidFill>
          <a:ln/>
        </p:spPr>
      </p:sp>
      <p:sp>
        <p:nvSpPr>
          <p:cNvPr id="11" name="Text 9"/>
          <p:cNvSpPr txBox="1"/>
          <p:nvPr/>
        </p:nvSpPr>
        <p:spPr>
          <a:xfrm>
            <a:off x="6423660" y="2103120"/>
            <a:ext cx="209169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73%</a:t>
            </a:r>
            <a:endParaRPr lang="en-US" sz="4600" dirty="0"/>
          </a:p>
        </p:txBody>
      </p:sp>
      <p:sp>
        <p:nvSpPr>
          <p:cNvPr id="12" name="Text 10"/>
          <p:cNvSpPr txBox="1"/>
          <p:nvPr/>
        </p:nvSpPr>
        <p:spPr>
          <a:xfrm>
            <a:off x="642366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truly unfamiliar</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patients are caught</a:t>
            </a:r>
            <a:endParaRPr lang="en-US" sz="1500" dirty="0"/>
          </a:p>
        </p:txBody>
      </p:sp>
      <p:sp>
        <p:nvSpPr>
          <p:cNvPr id="13" name="Shape 11"/>
          <p:cNvSpPr/>
          <p:nvPr/>
        </p:nvSpPr>
        <p:spPr>
          <a:xfrm>
            <a:off x="9018270" y="1828800"/>
            <a:ext cx="2457450" cy="2514600"/>
          </a:xfrm>
          <a:prstGeom prst="roundRect">
            <a:avLst>
              <a:gd name="adj" fmla="val 2977"/>
            </a:avLst>
          </a:prstGeom>
          <a:solidFill>
            <a:srgbClr val="F2F5F7"/>
          </a:solidFill>
          <a:ln/>
        </p:spPr>
      </p:sp>
      <p:sp>
        <p:nvSpPr>
          <p:cNvPr id="14" name="Text 12"/>
          <p:cNvSpPr txBox="1"/>
          <p:nvPr/>
        </p:nvSpPr>
        <p:spPr>
          <a:xfrm>
            <a:off x="9201150" y="2103120"/>
            <a:ext cx="2091690" cy="1005840"/>
          </a:xfrm>
          <a:prstGeom prst="rect">
            <a:avLst/>
          </a:prstGeom>
          <a:noFill/>
          <a:ln/>
        </p:spPr>
        <p:txBody>
          <a:bodyPr wrap="square" lIns="0" tIns="0" rIns="0" bIns="0" rtlCol="0" anchor="ctr"/>
          <a:lstStyle/>
          <a:p>
            <a:pPr algn="ctr" indent="0" marL="0">
              <a:buNone/>
            </a:pPr>
            <a:r>
              <a:rPr lang="en-US" sz="4600" b="1" dirty="0">
                <a:solidFill>
                  <a:srgbClr val="9C4BA0"/>
                </a:solidFill>
                <a:latin typeface="Cambria" pitchFamily="34" charset="0"/>
                <a:ea typeface="Cambria" pitchFamily="34" charset="-122"/>
                <a:cs typeface="Cambria" pitchFamily="34" charset="-120"/>
              </a:rPr>
              <a:t>0</a:t>
            </a:r>
            <a:endParaRPr lang="en-US" sz="4600" dirty="0"/>
          </a:p>
        </p:txBody>
      </p:sp>
      <p:sp>
        <p:nvSpPr>
          <p:cNvPr id="15" name="Text 13"/>
          <p:cNvSpPr txBox="1"/>
          <p:nvPr/>
        </p:nvSpPr>
        <p:spPr>
          <a:xfrm>
            <a:off x="920115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outcome labels</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required from the new site</a:t>
            </a:r>
            <a:endParaRPr lang="en-US" sz="1500" dirty="0"/>
          </a:p>
        </p:txBody>
      </p:sp>
      <p:sp>
        <p:nvSpPr>
          <p:cNvPr id="16" name="Text 14"/>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This proxy needs no target outcome labels, but success in one simulated ward does not guarantee safe detection elsewhere.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Bootstrap disagreement measures sensitivity to the training sample, not distance from the training distribution.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A patient far outside the data can still receive confident, wrong, unanimous predictions if the model form extrapolates smoothly. Treat this as a screen, not a guarantee. Ensembles, conformal prediction and input-drift checks address different questions - conformal coverage guarantees generally depend on exchangeability; they do not certify target-site safety when that assumption fails.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Letting the model abstain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deployed model does not have to answer every question. Rank by uncertainty, hand the worst back to a clinician, and measure what remains.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RISK-COVERAGE ON THE UNFAMILIAR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Does the model know what it does not know?</a:t>
            </a:r>
            <a:endParaRPr lang="en-US" sz="3000" dirty="0"/>
          </a:p>
        </p:txBody>
      </p:sp>
      <p:pic>
        <p:nvPicPr>
          <p:cNvPr id="4" name="Image 0" descr="figures/l2_risk_coverage.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Random deferral is the null: it shrinks the cohort and improves nothing, so its curve is flat. Any ranking worth using must beat it.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SIGNALS, TWO DIFFERENT JOBS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They defer different patients, and that is the point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 distance from 0.5</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Defers genuinely borderline patients.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Mechanically reduces classification error, so it usually looks strongest on a risk-coverage plot.</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Use it to triage the borderline cases into human review.</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 ensemble disagreement</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May flag patients for whom the fitted model is unstable.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Does not detect every unfamiliar patient and cannot guarantee safe deployment.</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Evaluate this signal before using it as a referral rule.</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Do not collapse them into one score. Report both, and use them for different things.</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threshold is a clinical decision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default threshold of 0.5 is rarely justified without specifying the consequences of mistakes and the care pathway.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IDEALISED TWO-ACTION COST MODEL: ASSUMING CALIBRATED RISKS, THRESHOLD = 1 / (1 + 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Where the operating point actually sits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194560"/>
                <a:gridCol w="3200400"/>
                <a:gridCol w="320040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Cost ratio R</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Threshold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uncorrected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recalibrated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0.333</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30%</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5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0.167</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71%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10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0.048</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86%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Here the useful range is far below 0.5. These thresholds come from simplified cost assumptions and must be adapted to the clinical workflow; the uncorrected model under-alerts worst exactly where the clinical value lives.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DECISION CURVE ANALYSIS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Is the model better than what we would do without it?</a:t>
            </a:r>
            <a:endParaRPr lang="en-US" sz="3000" dirty="0"/>
          </a:p>
        </p:txBody>
      </p:sp>
      <p:pic>
        <p:nvPicPr>
          <p:cNvPr id="4" name="Image 0" descr="figures/l2_net_benefit.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a 10:1 cost ratio the recalibrated model earns a net benefit of about 0.19 against roughly 0.19 for escalating the entire ward. On a ward with a 26% event rate, at that cost ratio, the model is not adding much over a blanket policy.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aggregate number lies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model can be well calibrated overall and badly calibrated for every subgroup in it, because the subgroup errors cancel.</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SUBGROUP THAT WAS 8% OF DEVELOPMENT DATA AND IS 39% OF THIS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ward, two very different models</a:t>
            </a:r>
            <a:endParaRPr lang="en-US" sz="3000" dirty="0"/>
          </a:p>
        </p:txBody>
      </p:sp>
      <p:pic>
        <p:nvPicPr>
          <p:cNvPr id="4" name="Image 0" descr="figures/l2_subgroup.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coin flip for 39% of the ward</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AUROC 0.72 for the majority group, 0.54 for the minority - and their risk is understated throughout.</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shift report finds nothing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covariate distributions are fine. What differs is the conditional relationship between labs and outcome.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sample-size problem</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657 training patients could never have identified that interaction. This is the case for the next section.</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Hierarchy, and simulators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Four hospitals report deterioration rates. One of them saw four patients and one event.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PARTIAL POOLING ACROSS FOUR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How far each site is pulled is estimated, not chosen</a:t>
            </a:r>
            <a:endParaRPr lang="en-US" sz="3000" dirty="0"/>
          </a:p>
        </p:txBody>
      </p:sp>
      <p:pic>
        <p:nvPicPr>
          <p:cNvPr id="4" name="Image 0" descr="figures/l2_pooling.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large teaching hospital is barely moved; the new unit almost entirely. That is what separates hierarchical modelling from fitting each site alone (the new unit gets a 25% rate) or one model for all sites (site differences vanish).</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WHEN THE MODEL IS A SIMULATOR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posterior over parameters that mean something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Rejection sampling (ABC)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Simulate from the prior, keep the runs whose summaries resemble what you observed.</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12,000 simulations to keep 240. The acceptance rate collapses as soon as the parameter has more than one or two dimensions.</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Neural posterior estimation</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Train a density estimator on the simulations, so every one of them contributes.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Amortised: once trained, the posterior for a new observation comes out without rerunning the simulator.</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Why a clinical audience should care: a progression rate or an effect size is something a clinician can argue with.</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2</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Recalibrate, and budget the labels</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Match the flexibility of the fix to what you can collect</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 spread needs no outcomes</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check you can run on day one</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Keep the two uncertainties apart</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belong in different parts of an abstention rule</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threshold comes from the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is usually far below 0.5</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everything stratified</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stratum too small to evaluate is itself a finding</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 the data decide the pooling</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Small sites and small subgroups borrow strength</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7</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Your project</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One open question: can we trust a model at a new hospital with very few outcome labels?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The task is not to raise AUROC.</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Teams receive 4,000 labeled source records, 1,600 unlabeled new-hospital records, and 75 randomly audited outcomes. Decide whether to stay in shadow mode, adapt, or defer predictions and what evidence you would collect next. No fixed answer, no formal grading. Five minutes, three slides.</a:t>
            </a:r>
            <a:endParaRPr lang="en-US" sz="1800" dirty="0"/>
          </a:p>
          <a:p>
            <a:pPr indent="0" marL="0">
              <a:lnSpc>
                <a:spcPct val="125000"/>
              </a:lnSpc>
              <a:buNone/>
            </a:pPr>
            <a:endParaRPr lang="en-US" sz="1800" dirty="0"/>
          </a:p>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Read project/OPEN_RESEARCH_CHALLENGE.md and open notebooks/91_open_research_challenge_starter.ipynb.</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Deciding under uncertainty</dc:title>
  <dc:subject>AI &amp; Uncertainty School and Workshop 2026, healthcare module</dc:subject>
  <dc:creator>Alireza Vafaei Sadr</dc:creator>
  <cp:lastModifiedBy>Alireza Vafaei Sadr</cp:lastModifiedBy>
  <cp:revision>1</cp:revision>
  <dcterms:created xsi:type="dcterms:W3CDTF">2026-10-16T19:51:30Z</dcterms:created>
  <dcterms:modified xsi:type="dcterms:W3CDTF">2026-10-16T19:51:30Z</dcterms:modified>
</cp:coreProperties>
</file>