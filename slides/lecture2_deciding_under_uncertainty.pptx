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if the model is recalibrated on the first 100 patients of a seasonal wave. The correction inherits whatever period it was estimated in - recalibration is a maintenance commitment, not a one-off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exercise: a service that can review 20% of admissions by hand builds a two-stage rule - epistemic gate first, then spend whatever budget remains on the most borderline of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R come from? Not from the data - from the service. ICU bed availability, staffing, what the escalation actually involves. Getting a clinician to state R is often the most valuable hour of a deployment project, and the number is rarely what the modelling team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report stratified: by every categorical column, by age band, and by whether key labs were recorded. If a stratum is too small to evaluate, that is itself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principled answer to the subgroup problem: give the small group its own parameters, and let the data decide how far to shrink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04 does this with the sbi package and includes a coverage check - the neural posterior is sharper but slightly over-confident, which ties straight back to the calibration theme of Lecture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320040"/>
          </a:xfrm>
          <a:prstGeom prst="rect">
            <a:avLst/>
          </a:prstGeom>
          <a:noFill/>
          <a:ln/>
        </p:spPr>
        <p:txBody>
          <a:bodyPr wrap="square" lIns="0" tIns="0" rIns="0" bIns="0" rtlCol="0" anchor="ctr"/>
          <a:lstStyle/>
          <a:p>
            <a:pPr indent="0" marL="0">
              <a:buNone/>
            </a:pPr>
            <a:r>
              <a:rPr lang="en-US" sz="1500" b="1" spc="200" kern="0" dirty="0">
                <a:solidFill>
                  <a:srgbClr val="DD5A22"/>
                </a:solidFill>
                <a:latin typeface="Calibri" pitchFamily="34" charset="0"/>
                <a:ea typeface="Calibri" pitchFamily="34" charset="-122"/>
                <a:cs typeface="Calibri" pitchFamily="34" charset="-120"/>
              </a:rPr>
              <a:t>HEALTHCARE AI MODULE  ·  LECTURE 2</a:t>
            </a:r>
            <a:endParaRPr lang="en-US" sz="1500" dirty="0"/>
          </a:p>
        </p:txBody>
      </p:sp>
      <p:sp>
        <p:nvSpPr>
          <p:cNvPr id="3" name="Text 1"/>
          <p:cNvSpPr txBox="1"/>
          <p:nvPr/>
        </p:nvSpPr>
        <p:spPr>
          <a:xfrm>
            <a:off x="685800" y="1828800"/>
            <a:ext cx="1042416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Deciding under</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uncertainty</a:t>
            </a:r>
            <a:endParaRPr lang="en-US" sz="4600" dirty="0"/>
          </a:p>
        </p:txBody>
      </p:sp>
      <p:sp>
        <p:nvSpPr>
          <p:cNvPr id="4" name="Text 2"/>
          <p:cNvSpPr txBox="1"/>
          <p:nvPr/>
        </p:nvSpPr>
        <p:spPr>
          <a:xfrm>
            <a:off x="685800" y="3703320"/>
            <a:ext cx="9418320" cy="822960"/>
          </a:xfrm>
          <a:prstGeom prst="rect">
            <a:avLst/>
          </a:prstGeom>
          <a:noFill/>
          <a:ln/>
        </p:spPr>
        <p:txBody>
          <a:bodyPr wrap="square" lIns="0" tIns="0" rIns="0" bIns="0" rtlCol="0" anchor="ctr"/>
          <a:lstStyle/>
          <a:p>
            <a:pPr indent="0" marL="0">
              <a:lnSpc>
                <a:spcPct val="120000"/>
              </a:lnSpc>
              <a:buNone/>
            </a:pPr>
            <a:r>
              <a:rPr lang="en-US" sz="1900" dirty="0">
                <a:solidFill>
                  <a:srgbClr val="AFC0D0"/>
                </a:solidFill>
                <a:latin typeface="Calibri" pitchFamily="34" charset="0"/>
                <a:ea typeface="Calibri" pitchFamily="34" charset="-122"/>
                <a:cs typeface="Calibri" pitchFamily="34" charset="-120"/>
              </a:rPr>
              <a:t>AI &amp; Uncertainty School and Workshop 2026</a:t>
            </a:r>
            <a:endParaRPr lang="en-US" sz="1900" dirty="0"/>
          </a:p>
          <a:p>
            <a:pPr indent="0" marL="0">
              <a:lnSpc>
                <a:spcPct val="120000"/>
              </a:lnSpc>
              <a:buNone/>
            </a:pPr>
            <a:r>
              <a:rPr lang="en-US" sz="1900" dirty="0">
                <a:solidFill>
                  <a:srgbClr val="AFC0D0"/>
                </a:solidFill>
                <a:latin typeface="Calibri" pitchFamily="34" charset="0"/>
                <a:ea typeface="Calibri" pitchFamily="34" charset="-122"/>
                <a:cs typeface="Calibri" pitchFamily="34" charset="-120"/>
              </a:rPr>
              <a:t>Mauritius, 16-20 November</a:t>
            </a:r>
            <a:endParaRPr lang="en-US" sz="1900" dirty="0"/>
          </a:p>
        </p:txBody>
      </p:sp>
      <p:sp>
        <p:nvSpPr>
          <p:cNvPr id="5" name="Shape 3"/>
          <p:cNvSpPr/>
          <p:nvPr/>
        </p:nvSpPr>
        <p:spPr>
          <a:xfrm>
            <a:off x="685800" y="4892040"/>
            <a:ext cx="1005840" cy="32004"/>
          </a:xfrm>
          <a:prstGeom prst="rect">
            <a:avLst/>
          </a:prstGeom>
          <a:solidFill>
            <a:srgbClr val="DD5A22"/>
          </a:solidFill>
          <a:ln/>
        </p:spPr>
      </p:sp>
      <p:sp>
        <p:nvSpPr>
          <p:cNvPr id="6" name="Text 4"/>
          <p:cNvSpPr txBox="1"/>
          <p:nvPr/>
        </p:nvSpPr>
        <p:spPr>
          <a:xfrm>
            <a:off x="685800" y="5166360"/>
            <a:ext cx="1078992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Alireza Vafaei Sadr</a:t>
            </a:r>
            <a:endParaRPr lang="en-US" sz="1600" dirty="0"/>
          </a:p>
        </p:txBody>
      </p:sp>
      <p:sp>
        <p:nvSpPr>
          <p:cNvPr id="7" name="Text 5"/>
          <p:cNvSpPr txBox="1"/>
          <p:nvPr/>
        </p:nvSpPr>
        <p:spPr>
          <a:xfrm>
            <a:off x="685800" y="5532120"/>
            <a:ext cx="10789920" cy="32004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Penn State College of Medicine  ·  github.com/vafaei-ar/ai-uncertainty-2026-healthcare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WHERE LECTURE 1 LEFT OFF</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A good model, offered to a new hospital</a:t>
            </a:r>
            <a:endParaRPr lang="en-US" sz="3000" dirty="0"/>
          </a:p>
        </p:txBody>
      </p:sp>
      <p:sp>
        <p:nvSpPr>
          <p:cNvPr id="4" name="Shape 2"/>
          <p:cNvSpPr/>
          <p:nvPr/>
        </p:nvSpPr>
        <p:spPr>
          <a:xfrm>
            <a:off x="685800" y="1828800"/>
            <a:ext cx="3383280" cy="2514600"/>
          </a:xfrm>
          <a:prstGeom prst="roundRect">
            <a:avLst>
              <a:gd name="adj" fmla="val 2909"/>
            </a:avLst>
          </a:prstGeom>
          <a:solidFill>
            <a:srgbClr val="F2F5F7"/>
          </a:solidFill>
          <a:ln/>
        </p:spPr>
      </p:sp>
      <p:sp>
        <p:nvSpPr>
          <p:cNvPr id="5" name="Text 3"/>
          <p:cNvSpPr txBox="1"/>
          <p:nvPr/>
        </p:nvSpPr>
        <p:spPr>
          <a:xfrm>
            <a:off x="868680" y="2103120"/>
            <a:ext cx="3017520" cy="1005840"/>
          </a:xfrm>
          <a:prstGeom prst="rect">
            <a:avLst/>
          </a:prstGeom>
          <a:noFill/>
          <a:ln/>
        </p:spPr>
        <p:txBody>
          <a:bodyPr wrap="square" lIns="0" tIns="0" rIns="0" bIns="0" rtlCol="0" anchor="ctr"/>
          <a:lstStyle/>
          <a:p>
            <a:pPr algn="ctr" indent="0" marL="0">
              <a:buNone/>
            </a:pPr>
            <a:r>
              <a:rPr lang="en-US" sz="4600" b="1" dirty="0">
                <a:solidFill>
                  <a:srgbClr val="2E74B5"/>
                </a:solidFill>
                <a:latin typeface="Cambria" pitchFamily="34" charset="0"/>
                <a:ea typeface="Cambria" pitchFamily="34" charset="-122"/>
                <a:cs typeface="Cambria" pitchFamily="34" charset="-120"/>
              </a:rPr>
              <a:t>0.26</a:t>
            </a:r>
            <a:endParaRPr lang="en-US" sz="4600" dirty="0"/>
          </a:p>
        </p:txBody>
      </p:sp>
      <p:sp>
        <p:nvSpPr>
          <p:cNvPr id="6" name="Text 4"/>
          <p:cNvSpPr txBox="1"/>
          <p:nvPr/>
        </p:nvSpPr>
        <p:spPr>
          <a:xfrm>
            <a:off x="86868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Observed event rate</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on the new ward</a:t>
            </a:r>
            <a:endParaRPr lang="en-US" sz="1500" dirty="0"/>
          </a:p>
        </p:txBody>
      </p:sp>
      <p:sp>
        <p:nvSpPr>
          <p:cNvPr id="7" name="Shape 5"/>
          <p:cNvSpPr/>
          <p:nvPr/>
        </p:nvSpPr>
        <p:spPr>
          <a:xfrm>
            <a:off x="4389120" y="1828800"/>
            <a:ext cx="3383280" cy="2514600"/>
          </a:xfrm>
          <a:prstGeom prst="roundRect">
            <a:avLst>
              <a:gd name="adj" fmla="val 2909"/>
            </a:avLst>
          </a:prstGeom>
          <a:solidFill>
            <a:srgbClr val="F2F5F7"/>
          </a:solidFill>
          <a:ln/>
        </p:spPr>
      </p:sp>
      <p:sp>
        <p:nvSpPr>
          <p:cNvPr id="8" name="Text 6"/>
          <p:cNvSpPr txBox="1"/>
          <p:nvPr/>
        </p:nvSpPr>
        <p:spPr>
          <a:xfrm>
            <a:off x="4572000" y="2103120"/>
            <a:ext cx="3017520" cy="1005840"/>
          </a:xfrm>
          <a:prstGeom prst="rect">
            <a:avLst/>
          </a:prstGeom>
          <a:noFill/>
          <a:ln/>
        </p:spPr>
        <p:txBody>
          <a:bodyPr wrap="square" lIns="0" tIns="0" rIns="0" bIns="0" rtlCol="0" anchor="ctr"/>
          <a:lstStyle/>
          <a:p>
            <a:pPr algn="ctr" indent="0" marL="0">
              <a:buNone/>
            </a:pPr>
            <a:r>
              <a:rPr lang="en-US" sz="4600" b="1" dirty="0">
                <a:solidFill>
                  <a:srgbClr val="DD5A22"/>
                </a:solidFill>
                <a:latin typeface="Cambria" pitchFamily="34" charset="0"/>
                <a:ea typeface="Cambria" pitchFamily="34" charset="-122"/>
                <a:cs typeface="Cambria" pitchFamily="34" charset="-120"/>
              </a:rPr>
              <a:t>0.15</a:t>
            </a:r>
            <a:endParaRPr lang="en-US" sz="4600" dirty="0"/>
          </a:p>
        </p:txBody>
      </p:sp>
      <p:sp>
        <p:nvSpPr>
          <p:cNvPr id="9" name="Text 7"/>
          <p:cNvSpPr txBox="1"/>
          <p:nvPr/>
        </p:nvSpPr>
        <p:spPr>
          <a:xfrm>
            <a:off x="457200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Mean predicted risk</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the model's claim</a:t>
            </a:r>
            <a:endParaRPr lang="en-US" sz="1500" dirty="0"/>
          </a:p>
        </p:txBody>
      </p:sp>
      <p:sp>
        <p:nvSpPr>
          <p:cNvPr id="10" name="Shape 8"/>
          <p:cNvSpPr/>
          <p:nvPr/>
        </p:nvSpPr>
        <p:spPr>
          <a:xfrm>
            <a:off x="8092440" y="1828800"/>
            <a:ext cx="3383280" cy="2514600"/>
          </a:xfrm>
          <a:prstGeom prst="roundRect">
            <a:avLst>
              <a:gd name="adj" fmla="val 2909"/>
            </a:avLst>
          </a:prstGeom>
          <a:solidFill>
            <a:srgbClr val="F2F5F7"/>
          </a:solidFill>
          <a:ln/>
        </p:spPr>
      </p:sp>
      <p:sp>
        <p:nvSpPr>
          <p:cNvPr id="11" name="Text 9"/>
          <p:cNvSpPr txBox="1"/>
          <p:nvPr/>
        </p:nvSpPr>
        <p:spPr>
          <a:xfrm>
            <a:off x="8275320" y="2103120"/>
            <a:ext cx="3017520" cy="1005840"/>
          </a:xfrm>
          <a:prstGeom prst="rect">
            <a:avLst/>
          </a:prstGeom>
          <a:noFill/>
          <a:ln/>
        </p:spPr>
        <p:txBody>
          <a:bodyPr wrap="square" lIns="0" tIns="0" rIns="0" bIns="0" rtlCol="0" anchor="ctr"/>
          <a:lstStyle/>
          <a:p>
            <a:pPr algn="ctr" indent="0" marL="0">
              <a:buNone/>
            </a:pPr>
            <a:r>
              <a:rPr lang="en-US" sz="4600" b="1" dirty="0">
                <a:solidFill>
                  <a:srgbClr val="0E8F6E"/>
                </a:solidFill>
                <a:latin typeface="Cambria" pitchFamily="34" charset="0"/>
                <a:ea typeface="Cambria" pitchFamily="34" charset="-122"/>
                <a:cs typeface="Cambria" pitchFamily="34" charset="-120"/>
              </a:rPr>
              <a:t>0.71</a:t>
            </a:r>
            <a:endParaRPr lang="en-US" sz="4600" dirty="0"/>
          </a:p>
        </p:txBody>
      </p:sp>
      <p:sp>
        <p:nvSpPr>
          <p:cNvPr id="12" name="Text 10"/>
          <p:cNvSpPr txBox="1"/>
          <p:nvPr/>
        </p:nvSpPr>
        <p:spPr>
          <a:xfrm>
            <a:off x="827532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AUROC</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barely moved</a:t>
            </a:r>
            <a:endParaRPr lang="en-US" sz="1500" dirty="0"/>
          </a:p>
        </p:txBody>
      </p:sp>
      <p:sp>
        <p:nvSpPr>
          <p:cNvPr id="13" name="Text 11"/>
          <p:cNvSpPr txBox="1"/>
          <p:nvPr/>
        </p:nvSpPr>
        <p:spPr>
          <a:xfrm>
            <a:off x="685800" y="4800600"/>
            <a:ext cx="10789920" cy="1280160"/>
          </a:xfrm>
          <a:prstGeom prst="rect">
            <a:avLst/>
          </a:prstGeom>
          <a:noFill/>
          <a:ln/>
        </p:spPr>
        <p:txBody>
          <a:bodyPr wrap="square" lIns="0" tIns="0" rIns="0" bIns="0" rtlCol="0" anchor="ctr"/>
          <a:lstStyle/>
          <a:p>
            <a:pPr indent="0" marL="0">
              <a:lnSpc>
                <a:spcPct val="128000"/>
              </a:lnSpc>
              <a:buNone/>
            </a:pPr>
            <a:r>
              <a:rPr lang="en-US" sz="1700" dirty="0">
                <a:solidFill>
                  <a:srgbClr val="3A4A59"/>
                </a:solidFill>
                <a:latin typeface="Calibri" pitchFamily="34" charset="0"/>
                <a:ea typeface="Calibri" pitchFamily="34" charset="-122"/>
                <a:cs typeface="Calibri" pitchFamily="34" charset="-120"/>
              </a:rPr>
              <a:t>The ranking transferred. The numbers did not. The model tells site B that 15% of their ward is at risk while 26% of it deteriorates. This lecture is about what you do next.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WHERE WE ARE GOING</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From a broken number to a defensible decision</a:t>
            </a:r>
            <a:endParaRPr lang="en-US" sz="3000" dirty="0"/>
          </a:p>
        </p:txBody>
      </p:sp>
      <p:sp>
        <p:nvSpPr>
          <p:cNvPr id="4" name="Shape 2"/>
          <p:cNvSpPr/>
          <p:nvPr/>
        </p:nvSpPr>
        <p:spPr>
          <a:xfrm>
            <a:off x="685800" y="1636776"/>
            <a:ext cx="347472" cy="347472"/>
          </a:xfrm>
          <a:prstGeom prst="ellipse">
            <a:avLst/>
          </a:prstGeom>
          <a:solidFill>
            <a:srgbClr val="2E74B5"/>
          </a:solidFill>
          <a:ln/>
        </p:spPr>
      </p:sp>
      <p:sp>
        <p:nvSpPr>
          <p:cNvPr id="5" name="Text 3"/>
          <p:cNvSpPr txBox="1"/>
          <p:nvPr/>
        </p:nvSpPr>
        <p:spPr>
          <a:xfrm>
            <a:off x="685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97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Repairing calibration</a:t>
            </a:r>
            <a:endParaRPr lang="en-US" sz="1700" dirty="0"/>
          </a:p>
        </p:txBody>
      </p:sp>
      <p:sp>
        <p:nvSpPr>
          <p:cNvPr id="7" name="Text 5"/>
          <p:cNvSpPr txBox="1"/>
          <p:nvPr/>
        </p:nvSpPr>
        <p:spPr>
          <a:xfrm>
            <a:off x="1197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And what it costs in labelled patients from the new site</a:t>
            </a:r>
            <a:endParaRPr lang="en-US" sz="1450" dirty="0"/>
          </a:p>
        </p:txBody>
      </p:sp>
      <p:sp>
        <p:nvSpPr>
          <p:cNvPr id="8" name="Shape 6"/>
          <p:cNvSpPr/>
          <p:nvPr/>
        </p:nvSpPr>
        <p:spPr>
          <a:xfrm>
            <a:off x="685800" y="2569464"/>
            <a:ext cx="347472" cy="347472"/>
          </a:xfrm>
          <a:prstGeom prst="ellipse">
            <a:avLst/>
          </a:prstGeom>
          <a:solidFill>
            <a:srgbClr val="DD5A22"/>
          </a:solidFill>
          <a:ln/>
        </p:spPr>
      </p:sp>
      <p:sp>
        <p:nvSpPr>
          <p:cNvPr id="9" name="Text 7"/>
          <p:cNvSpPr txBox="1"/>
          <p:nvPr/>
        </p:nvSpPr>
        <p:spPr>
          <a:xfrm>
            <a:off x="685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97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Ensembles as an epistemic signal</a:t>
            </a:r>
            <a:endParaRPr lang="en-US" sz="1700" dirty="0"/>
          </a:p>
        </p:txBody>
      </p:sp>
      <p:sp>
        <p:nvSpPr>
          <p:cNvPr id="11" name="Text 9"/>
          <p:cNvSpPr txBox="1"/>
          <p:nvPr/>
        </p:nvSpPr>
        <p:spPr>
          <a:xfrm>
            <a:off x="1197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The one check you can run with no outcome data</a:t>
            </a:r>
            <a:endParaRPr lang="en-US" sz="1450" dirty="0"/>
          </a:p>
        </p:txBody>
      </p:sp>
      <p:sp>
        <p:nvSpPr>
          <p:cNvPr id="12" name="Shape 10"/>
          <p:cNvSpPr/>
          <p:nvPr/>
        </p:nvSpPr>
        <p:spPr>
          <a:xfrm>
            <a:off x="685800" y="3502152"/>
            <a:ext cx="347472" cy="347472"/>
          </a:xfrm>
          <a:prstGeom prst="ellipse">
            <a:avLst/>
          </a:prstGeom>
          <a:solidFill>
            <a:srgbClr val="0E8F6E"/>
          </a:solidFill>
          <a:ln/>
        </p:spPr>
      </p:sp>
      <p:sp>
        <p:nvSpPr>
          <p:cNvPr id="13" name="Text 11"/>
          <p:cNvSpPr txBox="1"/>
          <p:nvPr/>
        </p:nvSpPr>
        <p:spPr>
          <a:xfrm>
            <a:off x="685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97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Letting the model abstain</a:t>
            </a:r>
            <a:endParaRPr lang="en-US" sz="1700" dirty="0"/>
          </a:p>
        </p:txBody>
      </p:sp>
      <p:sp>
        <p:nvSpPr>
          <p:cNvPr id="15" name="Text 13"/>
          <p:cNvSpPr txBox="1"/>
          <p:nvPr/>
        </p:nvSpPr>
        <p:spPr>
          <a:xfrm>
            <a:off x="1197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Risk-coverage curves and who gets deferred</a:t>
            </a:r>
            <a:endParaRPr lang="en-US" sz="1450" dirty="0"/>
          </a:p>
        </p:txBody>
      </p:sp>
      <p:sp>
        <p:nvSpPr>
          <p:cNvPr id="16" name="Shape 14"/>
          <p:cNvSpPr/>
          <p:nvPr/>
        </p:nvSpPr>
        <p:spPr>
          <a:xfrm>
            <a:off x="6400800" y="1636776"/>
            <a:ext cx="347472" cy="347472"/>
          </a:xfrm>
          <a:prstGeom prst="ellipse">
            <a:avLst/>
          </a:prstGeom>
          <a:solidFill>
            <a:srgbClr val="9C4BA0"/>
          </a:solidFill>
          <a:ln/>
        </p:spPr>
      </p:sp>
      <p:sp>
        <p:nvSpPr>
          <p:cNvPr id="17" name="Text 15"/>
          <p:cNvSpPr txBox="1"/>
          <p:nvPr/>
        </p:nvSpPr>
        <p:spPr>
          <a:xfrm>
            <a:off x="6400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912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Thresholds from clinical costs</a:t>
            </a:r>
            <a:endParaRPr lang="en-US" sz="1700" dirty="0"/>
          </a:p>
        </p:txBody>
      </p:sp>
      <p:sp>
        <p:nvSpPr>
          <p:cNvPr id="19" name="Text 17"/>
          <p:cNvSpPr txBox="1"/>
          <p:nvPr/>
        </p:nvSpPr>
        <p:spPr>
          <a:xfrm>
            <a:off x="6912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Not from 0.5, and usually far lower than expected</a:t>
            </a:r>
            <a:endParaRPr lang="en-US" sz="1450" dirty="0"/>
          </a:p>
        </p:txBody>
      </p:sp>
      <p:sp>
        <p:nvSpPr>
          <p:cNvPr id="20" name="Shape 18"/>
          <p:cNvSpPr/>
          <p:nvPr/>
        </p:nvSpPr>
        <p:spPr>
          <a:xfrm>
            <a:off x="6400800" y="2569464"/>
            <a:ext cx="347472" cy="347472"/>
          </a:xfrm>
          <a:prstGeom prst="ellipse">
            <a:avLst/>
          </a:prstGeom>
          <a:solidFill>
            <a:srgbClr val="2E74B5"/>
          </a:solidFill>
          <a:ln/>
        </p:spPr>
      </p:sp>
      <p:sp>
        <p:nvSpPr>
          <p:cNvPr id="21" name="Text 19"/>
          <p:cNvSpPr txBox="1"/>
          <p:nvPr/>
        </p:nvSpPr>
        <p:spPr>
          <a:xfrm>
            <a:off x="6400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6912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Subgroup reliability</a:t>
            </a:r>
            <a:endParaRPr lang="en-US" sz="1700" dirty="0"/>
          </a:p>
        </p:txBody>
      </p:sp>
      <p:sp>
        <p:nvSpPr>
          <p:cNvPr id="23" name="Text 21"/>
          <p:cNvSpPr txBox="1"/>
          <p:nvPr/>
        </p:nvSpPr>
        <p:spPr>
          <a:xfrm>
            <a:off x="6912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Why the aggregate number lies</a:t>
            </a:r>
            <a:endParaRPr lang="en-US" sz="1450" dirty="0"/>
          </a:p>
        </p:txBody>
      </p:sp>
      <p:sp>
        <p:nvSpPr>
          <p:cNvPr id="24" name="Shape 22"/>
          <p:cNvSpPr/>
          <p:nvPr/>
        </p:nvSpPr>
        <p:spPr>
          <a:xfrm>
            <a:off x="6400800" y="3502152"/>
            <a:ext cx="347472" cy="347472"/>
          </a:xfrm>
          <a:prstGeom prst="ellipse">
            <a:avLst/>
          </a:prstGeom>
          <a:solidFill>
            <a:srgbClr val="DD5A22"/>
          </a:solidFill>
          <a:ln/>
        </p:spPr>
      </p:sp>
      <p:sp>
        <p:nvSpPr>
          <p:cNvPr id="25" name="Text 23"/>
          <p:cNvSpPr txBox="1"/>
          <p:nvPr/>
        </p:nvSpPr>
        <p:spPr>
          <a:xfrm>
            <a:off x="6400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6912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Hierarchy and simulators</a:t>
            </a:r>
            <a:endParaRPr lang="en-US" sz="1700" dirty="0"/>
          </a:p>
        </p:txBody>
      </p:sp>
      <p:sp>
        <p:nvSpPr>
          <p:cNvPr id="27" name="Text 25"/>
          <p:cNvSpPr txBox="1"/>
          <p:nvPr/>
        </p:nvSpPr>
        <p:spPr>
          <a:xfrm>
            <a:off x="6912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Borrowing strength, and posteriors without a likelihood</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Recalibration, and what it costs</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Every repair needs labelled patients from the new site. That is the real cost of deployment, and it is usually left out of the project plan.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THREE REPAIRS, INCREASING FLEXIBILITY</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Match the fix to the labels you can actually get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2194560"/>
                <a:gridCol w="2743200"/>
                <a:gridCol w="1005840"/>
                <a:gridCol w="484632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fits</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Params</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When it is the right choice</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Intercept correction</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A shift on the logit scale</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Prevalence changed, the risk ordering did not</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Platt scaling</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Slope and intercept on the logit scale</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Ordering is right but the spread is wrong too</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Isotonic regression</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Any monotone map</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many</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Plenty of labels and a distortion of unknown shape</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623560"/>
            <a:ext cx="10789920" cy="822960"/>
          </a:xfrm>
          <a:prstGeom prst="rect">
            <a:avLst/>
          </a:prstGeom>
          <a:noFill/>
          <a:ln/>
        </p:spPr>
        <p:txBody>
          <a:bodyPr wrap="square" lIns="0" tIns="0" rIns="0" bIns="0" rtlCol="0" anchor="ctr"/>
          <a:lstStyle/>
          <a:p>
            <a:pPr indent="0" marL="0">
              <a:lnSpc>
                <a:spcPct val="120000"/>
              </a:lnSpc>
              <a:buNone/>
            </a:pPr>
            <a:r>
              <a:rPr lang="en-US" sz="1550" dirty="0">
                <a:solidFill>
                  <a:srgbClr val="3A4A59"/>
                </a:solidFill>
                <a:latin typeface="Calibri" pitchFamily="34" charset="0"/>
                <a:ea typeface="Calibri" pitchFamily="34" charset="-122"/>
                <a:cs typeface="Calibri" pitchFamily="34" charset="-120"/>
              </a:rPr>
              <a:t>None of the three reorders anyone, so AUROC is untouched by all of them. What they repair is the meaning of the numbers.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SITE B, RECALIBRATED ON 2400 LABELLED PATIENTS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One parameter fixes most of it</a:t>
            </a:r>
            <a:endParaRPr lang="en-US" sz="3000" dirty="0"/>
          </a:p>
        </p:txBody>
      </p:sp>
      <p:pic>
        <p:nvPicPr>
          <p:cNvPr id="4" name="Image 0" descr="figures/l2_recalibration.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A single intercept recovers most of the gain, because a single intercept is exactly the damage that was done. Brier, log loss and ECE improve sharply; AUROC does not move at all.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HOW MANY CHARTS DOES A FIX ACTUALLY NEED?</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Flexibility you cannot afford makes things worse</a:t>
            </a:r>
            <a:endParaRPr lang="en-US" sz="3000" dirty="0"/>
          </a:p>
        </p:txBody>
      </p:sp>
      <p:pic>
        <p:nvPicPr>
          <p:cNvPr id="4" name="Image 0" descr="figures/l2_calibration_cost.png">    </p:cNvPr>
          <p:cNvPicPr>
            <a:picLocks noChangeAspect="1"/>
          </p:cNvPicPr>
          <p:nvPr/>
        </p:nvPicPr>
        <p:blipFill>
          <a:blip r:embed="rId1"/>
          <a:srcRect l="0" r="0" t="0" b="0"/>
          <a:stretch/>
        </p:blipFill>
        <p:spPr>
          <a:xfrm>
            <a:off x="685800" y="1600200"/>
            <a:ext cx="6858000" cy="3840480"/>
          </a:xfrm>
          <a:prstGeom prst="rect">
            <a:avLst/>
          </a:prstGeom>
        </p:spPr>
      </p:pic>
      <p:sp>
        <p:nvSpPr>
          <p:cNvPr id="5" name="Shape 2"/>
          <p:cNvSpPr/>
          <p:nvPr/>
        </p:nvSpPr>
        <p:spPr>
          <a:xfrm>
            <a:off x="7818120" y="1764792"/>
            <a:ext cx="310896" cy="310896"/>
          </a:xfrm>
          <a:prstGeom prst="ellipse">
            <a:avLst/>
          </a:prstGeom>
          <a:solidFill>
            <a:srgbClr val="2E74B5"/>
          </a:solidFill>
          <a:ln/>
        </p:spPr>
      </p:sp>
      <p:sp>
        <p:nvSpPr>
          <p:cNvPr id="6" name="Text 3"/>
          <p:cNvSpPr txBox="1"/>
          <p:nvPr/>
        </p:nvSpPr>
        <p:spPr>
          <a:xfrm>
            <a:off x="7818120" y="1764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8275320" y="1719072"/>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One parameter, 100 charts</a:t>
            </a:r>
            <a:endParaRPr lang="en-US" sz="1550" dirty="0"/>
          </a:p>
        </p:txBody>
      </p:sp>
      <p:sp>
        <p:nvSpPr>
          <p:cNvPr id="8" name="Text 5"/>
          <p:cNvSpPr txBox="1"/>
          <p:nvPr/>
        </p:nvSpPr>
        <p:spPr>
          <a:xfrm>
            <a:off x="8275320" y="2048256"/>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The intercept correction is close to its ceiling at around 100 labelled patients from the new site.</a:t>
            </a:r>
            <a:endParaRPr lang="en-US" sz="1350" dirty="0"/>
          </a:p>
        </p:txBody>
      </p:sp>
      <p:sp>
        <p:nvSpPr>
          <p:cNvPr id="9" name="Shape 6"/>
          <p:cNvSpPr/>
          <p:nvPr/>
        </p:nvSpPr>
        <p:spPr>
          <a:xfrm>
            <a:off x="7818120" y="3154680"/>
            <a:ext cx="310896" cy="310896"/>
          </a:xfrm>
          <a:prstGeom prst="ellipse">
            <a:avLst/>
          </a:prstGeom>
          <a:solidFill>
            <a:srgbClr val="DD5A22"/>
          </a:solidFill>
          <a:ln/>
        </p:spPr>
      </p:sp>
      <p:sp>
        <p:nvSpPr>
          <p:cNvPr id="10" name="Text 7"/>
          <p:cNvSpPr txBox="1"/>
          <p:nvPr/>
        </p:nvSpPr>
        <p:spPr>
          <a:xfrm>
            <a:off x="7818120" y="3154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8275320" y="3108960"/>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Isotonic needs 10x more</a:t>
            </a:r>
            <a:endParaRPr lang="en-US" sz="1550" dirty="0"/>
          </a:p>
        </p:txBody>
      </p:sp>
      <p:sp>
        <p:nvSpPr>
          <p:cNvPr id="12" name="Text 9"/>
          <p:cNvSpPr txBox="1"/>
          <p:nvPr/>
        </p:nvSpPr>
        <p:spPr>
          <a:xfrm>
            <a:off x="8275320" y="3438144"/>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Below a few hundred labels it is worse than doing nothing at all - it spends its flexibility fitting noise.</a:t>
            </a:r>
            <a:endParaRPr lang="en-US" sz="1350" dirty="0"/>
          </a:p>
        </p:txBody>
      </p:sp>
      <p:sp>
        <p:nvSpPr>
          <p:cNvPr id="13" name="Shape 10"/>
          <p:cNvSpPr/>
          <p:nvPr/>
        </p:nvSpPr>
        <p:spPr>
          <a:xfrm>
            <a:off x="7818120" y="4544568"/>
            <a:ext cx="310896" cy="310896"/>
          </a:xfrm>
          <a:prstGeom prst="ellipse">
            <a:avLst/>
          </a:prstGeom>
          <a:solidFill>
            <a:srgbClr val="0E8F6E"/>
          </a:solidFill>
          <a:ln/>
        </p:spPr>
      </p:sp>
      <p:sp>
        <p:nvSpPr>
          <p:cNvPr id="14" name="Text 11"/>
          <p:cNvSpPr txBox="1"/>
          <p:nvPr/>
        </p:nvSpPr>
        <p:spPr>
          <a:xfrm>
            <a:off x="7818120" y="45445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8275320" y="4498848"/>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So plan the label budget</a:t>
            </a:r>
            <a:endParaRPr lang="en-US" sz="1550" dirty="0"/>
          </a:p>
        </p:txBody>
      </p:sp>
      <p:sp>
        <p:nvSpPr>
          <p:cNvPr id="16" name="Text 13"/>
          <p:cNvSpPr txBox="1"/>
          <p:nvPr/>
        </p:nvSpPr>
        <p:spPr>
          <a:xfrm>
            <a:off x="8275320" y="4828032"/>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A one-parameter fix on 100 charts beats a non-parametric fix on the same 100 charts, every time.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Ensembles as an epistemic signal</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Refit on bootstrap resamples. Where the models agree, the data pinned the answer down. Where they disagree, the prediction is an extrapolation.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A WARD WHERE 30% OF PATIENTS ARE UNLIKE ANYTHING IN DEVELOPMENT</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Disagreement finds patients the model was never trained for</a:t>
            </a:r>
            <a:endParaRPr lang="en-US" sz="3000" dirty="0"/>
          </a:p>
        </p:txBody>
      </p:sp>
      <p:pic>
        <p:nvPicPr>
          <p:cNvPr id="4" name="Image 0" descr="figures/l2_ensemble_ood.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The threshold is the 95th percentile of disagreement measured on the development data alone - so it can be set before the model goes live.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A GATE SET ON DEVELOPMENT DATA, APPLIED TO A NEW WARD</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The check you can run on day one</a:t>
            </a:r>
            <a:endParaRPr lang="en-US" sz="3000" dirty="0"/>
          </a:p>
        </p:txBody>
      </p:sp>
      <p:sp>
        <p:nvSpPr>
          <p:cNvPr id="4" name="Shape 2"/>
          <p:cNvSpPr/>
          <p:nvPr/>
        </p:nvSpPr>
        <p:spPr>
          <a:xfrm>
            <a:off x="685800" y="1828800"/>
            <a:ext cx="2457450" cy="2514600"/>
          </a:xfrm>
          <a:prstGeom prst="roundRect">
            <a:avLst>
              <a:gd name="adj" fmla="val 2977"/>
            </a:avLst>
          </a:prstGeom>
          <a:solidFill>
            <a:srgbClr val="F2F5F7"/>
          </a:solidFill>
          <a:ln/>
        </p:spPr>
      </p:sp>
      <p:sp>
        <p:nvSpPr>
          <p:cNvPr id="5" name="Text 3"/>
          <p:cNvSpPr txBox="1"/>
          <p:nvPr/>
        </p:nvSpPr>
        <p:spPr>
          <a:xfrm>
            <a:off x="868680" y="2103120"/>
            <a:ext cx="2091690" cy="1005840"/>
          </a:xfrm>
          <a:prstGeom prst="rect">
            <a:avLst/>
          </a:prstGeom>
          <a:noFill/>
          <a:ln/>
        </p:spPr>
        <p:txBody>
          <a:bodyPr wrap="square" lIns="0" tIns="0" rIns="0" bIns="0" rtlCol="0" anchor="ctr"/>
          <a:lstStyle/>
          <a:p>
            <a:pPr algn="ctr" indent="0" marL="0">
              <a:buNone/>
            </a:pPr>
            <a:r>
              <a:rPr lang="en-US" sz="4600" b="1" dirty="0">
                <a:solidFill>
                  <a:srgbClr val="2E74B5"/>
                </a:solidFill>
                <a:latin typeface="Cambria" pitchFamily="34" charset="0"/>
                <a:ea typeface="Cambria" pitchFamily="34" charset="-122"/>
                <a:cs typeface="Cambria" pitchFamily="34" charset="-120"/>
              </a:rPr>
              <a:t>25%</a:t>
            </a:r>
            <a:endParaRPr lang="en-US" sz="4600" dirty="0"/>
          </a:p>
        </p:txBody>
      </p:sp>
      <p:sp>
        <p:nvSpPr>
          <p:cNvPr id="6" name="Text 4"/>
          <p:cNvSpPr txBox="1"/>
          <p:nvPr/>
        </p:nvSpPr>
        <p:spPr>
          <a:xfrm>
            <a:off x="868680" y="3154680"/>
            <a:ext cx="209169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of the new ward</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flagged by the gate</a:t>
            </a:r>
            <a:endParaRPr lang="en-US" sz="1500" dirty="0"/>
          </a:p>
        </p:txBody>
      </p:sp>
      <p:sp>
        <p:nvSpPr>
          <p:cNvPr id="7" name="Shape 5"/>
          <p:cNvSpPr/>
          <p:nvPr/>
        </p:nvSpPr>
        <p:spPr>
          <a:xfrm>
            <a:off x="3463290" y="1828800"/>
            <a:ext cx="2457450" cy="2514600"/>
          </a:xfrm>
          <a:prstGeom prst="roundRect">
            <a:avLst>
              <a:gd name="adj" fmla="val 2977"/>
            </a:avLst>
          </a:prstGeom>
          <a:solidFill>
            <a:srgbClr val="F2F5F7"/>
          </a:solidFill>
          <a:ln/>
        </p:spPr>
      </p:sp>
      <p:sp>
        <p:nvSpPr>
          <p:cNvPr id="8" name="Text 6"/>
          <p:cNvSpPr txBox="1"/>
          <p:nvPr/>
        </p:nvSpPr>
        <p:spPr>
          <a:xfrm>
            <a:off x="3646170" y="2103120"/>
            <a:ext cx="2091690" cy="1005840"/>
          </a:xfrm>
          <a:prstGeom prst="rect">
            <a:avLst/>
          </a:prstGeom>
          <a:noFill/>
          <a:ln/>
        </p:spPr>
        <p:txBody>
          <a:bodyPr wrap="square" lIns="0" tIns="0" rIns="0" bIns="0" rtlCol="0" anchor="ctr"/>
          <a:lstStyle/>
          <a:p>
            <a:pPr algn="ctr" indent="0" marL="0">
              <a:buNone/>
            </a:pPr>
            <a:r>
              <a:rPr lang="en-US" sz="4600" b="1" dirty="0">
                <a:solidFill>
                  <a:srgbClr val="DD5A22"/>
                </a:solidFill>
                <a:latin typeface="Cambria" pitchFamily="34" charset="0"/>
                <a:ea typeface="Cambria" pitchFamily="34" charset="-122"/>
                <a:cs typeface="Cambria" pitchFamily="34" charset="-120"/>
              </a:rPr>
              <a:t>87%</a:t>
            </a:r>
            <a:endParaRPr lang="en-US" sz="4600" dirty="0"/>
          </a:p>
        </p:txBody>
      </p:sp>
      <p:sp>
        <p:nvSpPr>
          <p:cNvPr id="9" name="Text 7"/>
          <p:cNvSpPr txBox="1"/>
          <p:nvPr/>
        </p:nvSpPr>
        <p:spPr>
          <a:xfrm>
            <a:off x="3646170" y="3154680"/>
            <a:ext cx="209169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of those flagged</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are genuinely out-of-distribution</a:t>
            </a:r>
            <a:endParaRPr lang="en-US" sz="1500" dirty="0"/>
          </a:p>
        </p:txBody>
      </p:sp>
      <p:sp>
        <p:nvSpPr>
          <p:cNvPr id="10" name="Shape 8"/>
          <p:cNvSpPr/>
          <p:nvPr/>
        </p:nvSpPr>
        <p:spPr>
          <a:xfrm>
            <a:off x="6240780" y="1828800"/>
            <a:ext cx="2457450" cy="2514600"/>
          </a:xfrm>
          <a:prstGeom prst="roundRect">
            <a:avLst>
              <a:gd name="adj" fmla="val 2977"/>
            </a:avLst>
          </a:prstGeom>
          <a:solidFill>
            <a:srgbClr val="F2F5F7"/>
          </a:solidFill>
          <a:ln/>
        </p:spPr>
      </p:sp>
      <p:sp>
        <p:nvSpPr>
          <p:cNvPr id="11" name="Text 9"/>
          <p:cNvSpPr txBox="1"/>
          <p:nvPr/>
        </p:nvSpPr>
        <p:spPr>
          <a:xfrm>
            <a:off x="6423660" y="2103120"/>
            <a:ext cx="2091690" cy="1005840"/>
          </a:xfrm>
          <a:prstGeom prst="rect">
            <a:avLst/>
          </a:prstGeom>
          <a:noFill/>
          <a:ln/>
        </p:spPr>
        <p:txBody>
          <a:bodyPr wrap="square" lIns="0" tIns="0" rIns="0" bIns="0" rtlCol="0" anchor="ctr"/>
          <a:lstStyle/>
          <a:p>
            <a:pPr algn="ctr" indent="0" marL="0">
              <a:buNone/>
            </a:pPr>
            <a:r>
              <a:rPr lang="en-US" sz="4600" b="1" dirty="0">
                <a:solidFill>
                  <a:srgbClr val="0E8F6E"/>
                </a:solidFill>
                <a:latin typeface="Cambria" pitchFamily="34" charset="0"/>
                <a:ea typeface="Cambria" pitchFamily="34" charset="-122"/>
                <a:cs typeface="Cambria" pitchFamily="34" charset="-120"/>
              </a:rPr>
              <a:t>73%</a:t>
            </a:r>
            <a:endParaRPr lang="en-US" sz="4600" dirty="0"/>
          </a:p>
        </p:txBody>
      </p:sp>
      <p:sp>
        <p:nvSpPr>
          <p:cNvPr id="12" name="Text 10"/>
          <p:cNvSpPr txBox="1"/>
          <p:nvPr/>
        </p:nvSpPr>
        <p:spPr>
          <a:xfrm>
            <a:off x="6423660" y="3154680"/>
            <a:ext cx="209169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of the truly unfamiliar</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patients are caught</a:t>
            </a:r>
            <a:endParaRPr lang="en-US" sz="1500" dirty="0"/>
          </a:p>
        </p:txBody>
      </p:sp>
      <p:sp>
        <p:nvSpPr>
          <p:cNvPr id="13" name="Shape 11"/>
          <p:cNvSpPr/>
          <p:nvPr/>
        </p:nvSpPr>
        <p:spPr>
          <a:xfrm>
            <a:off x="9018270" y="1828800"/>
            <a:ext cx="2457450" cy="2514600"/>
          </a:xfrm>
          <a:prstGeom prst="roundRect">
            <a:avLst>
              <a:gd name="adj" fmla="val 2977"/>
            </a:avLst>
          </a:prstGeom>
          <a:solidFill>
            <a:srgbClr val="F2F5F7"/>
          </a:solidFill>
          <a:ln/>
        </p:spPr>
      </p:sp>
      <p:sp>
        <p:nvSpPr>
          <p:cNvPr id="14" name="Text 12"/>
          <p:cNvSpPr txBox="1"/>
          <p:nvPr/>
        </p:nvSpPr>
        <p:spPr>
          <a:xfrm>
            <a:off x="9201150" y="2103120"/>
            <a:ext cx="2091690" cy="1005840"/>
          </a:xfrm>
          <a:prstGeom prst="rect">
            <a:avLst/>
          </a:prstGeom>
          <a:noFill/>
          <a:ln/>
        </p:spPr>
        <p:txBody>
          <a:bodyPr wrap="square" lIns="0" tIns="0" rIns="0" bIns="0" rtlCol="0" anchor="ctr"/>
          <a:lstStyle/>
          <a:p>
            <a:pPr algn="ctr" indent="0" marL="0">
              <a:buNone/>
            </a:pPr>
            <a:r>
              <a:rPr lang="en-US" sz="4600" b="1" dirty="0">
                <a:solidFill>
                  <a:srgbClr val="9C4BA0"/>
                </a:solidFill>
                <a:latin typeface="Cambria" pitchFamily="34" charset="0"/>
                <a:ea typeface="Cambria" pitchFamily="34" charset="-122"/>
                <a:cs typeface="Cambria" pitchFamily="34" charset="-120"/>
              </a:rPr>
              <a:t>0</a:t>
            </a:r>
            <a:endParaRPr lang="en-US" sz="4600" dirty="0"/>
          </a:p>
        </p:txBody>
      </p:sp>
      <p:sp>
        <p:nvSpPr>
          <p:cNvPr id="15" name="Text 13"/>
          <p:cNvSpPr txBox="1"/>
          <p:nvPr/>
        </p:nvSpPr>
        <p:spPr>
          <a:xfrm>
            <a:off x="9201150" y="3154680"/>
            <a:ext cx="209169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outcome labels</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required from the new site</a:t>
            </a:r>
            <a:endParaRPr lang="en-US" sz="1500" dirty="0"/>
          </a:p>
        </p:txBody>
      </p:sp>
      <p:sp>
        <p:nvSpPr>
          <p:cNvPr id="16" name="Text 14"/>
          <p:cNvSpPr txBox="1"/>
          <p:nvPr/>
        </p:nvSpPr>
        <p:spPr>
          <a:xfrm>
            <a:off x="685800" y="4800600"/>
            <a:ext cx="10789920" cy="1280160"/>
          </a:xfrm>
          <a:prstGeom prst="rect">
            <a:avLst/>
          </a:prstGeom>
          <a:noFill/>
          <a:ln/>
        </p:spPr>
        <p:txBody>
          <a:bodyPr wrap="square" lIns="0" tIns="0" rIns="0" bIns="0" rtlCol="0" anchor="ctr"/>
          <a:lstStyle/>
          <a:p>
            <a:pPr indent="0" marL="0">
              <a:lnSpc>
                <a:spcPct val="128000"/>
              </a:lnSpc>
              <a:buNone/>
            </a:pPr>
            <a:r>
              <a:rPr lang="en-US" sz="1700" dirty="0">
                <a:solidFill>
                  <a:srgbClr val="3A4A59"/>
                </a:solidFill>
                <a:latin typeface="Calibri" pitchFamily="34" charset="0"/>
                <a:ea typeface="Calibri" pitchFamily="34" charset="-122"/>
                <a:cs typeface="Calibri" pitchFamily="34" charset="-120"/>
              </a:rPr>
              <a:t>That last number is why this is worth more than it costs. Every other diagnostic in this lecture waits on outcomes; this one does not.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7"/>
        </a:solidFill>
      </p:bgPr>
    </p:bg>
    <p:spTree>
      <p:nvGrpSpPr>
        <p:cNvPr id="1" name=""/>
        <p:cNvGrpSpPr/>
        <p:nvPr/>
      </p:nvGrpSpPr>
      <p:grpSpPr>
        <a:xfrm>
          <a:off x="0" y="0"/>
          <a:ext cx="0" cy="0"/>
          <a:chOff x="0" y="0"/>
          <a:chExt cx="0" cy="0"/>
        </a:xfrm>
      </p:grpSpPr>
      <p:sp>
        <p:nvSpPr>
          <p:cNvPr id="2" name="Text 0"/>
          <p:cNvSpPr txBox="1"/>
          <p:nvPr/>
        </p:nvSpPr>
        <p:spPr>
          <a:xfrm>
            <a:off x="960120" y="1737360"/>
            <a:ext cx="10241280" cy="2286000"/>
          </a:xfrm>
          <a:prstGeom prst="rect">
            <a:avLst/>
          </a:prstGeom>
          <a:noFill/>
          <a:ln/>
        </p:spPr>
        <p:txBody>
          <a:bodyPr wrap="square" lIns="0" tIns="0" rIns="0" bIns="0" rtlCol="0" anchor="ctr"/>
          <a:lstStyle/>
          <a:p>
            <a:pPr indent="0" marL="0">
              <a:lnSpc>
                <a:spcPct val="112000"/>
              </a:lnSpc>
              <a:buNone/>
            </a:pPr>
            <a:r>
              <a:rPr lang="en-US" sz="3600" b="1" dirty="0">
                <a:solidFill>
                  <a:srgbClr val="13293D"/>
                </a:solidFill>
                <a:latin typeface="Cambria" pitchFamily="34" charset="0"/>
                <a:ea typeface="Cambria" pitchFamily="34" charset="-122"/>
                <a:cs typeface="Cambria" pitchFamily="34" charset="-120"/>
              </a:rPr>
              <a:t>Bootstrap disagreement measures sensitivity to the training sample, not distance from the training distribution.</a:t>
            </a:r>
            <a:endParaRPr lang="en-US" sz="3600" dirty="0"/>
          </a:p>
        </p:txBody>
      </p:sp>
      <p:sp>
        <p:nvSpPr>
          <p:cNvPr id="3" name="Shape 1"/>
          <p:cNvSpPr/>
          <p:nvPr/>
        </p:nvSpPr>
        <p:spPr>
          <a:xfrm>
            <a:off x="960120" y="4224528"/>
            <a:ext cx="1005840" cy="32004"/>
          </a:xfrm>
          <a:prstGeom prst="rect">
            <a:avLst/>
          </a:prstGeom>
          <a:solidFill>
            <a:srgbClr val="DD5A22"/>
          </a:solidFill>
          <a:ln/>
        </p:spPr>
      </p:sp>
      <p:sp>
        <p:nvSpPr>
          <p:cNvPr id="4" name="Text 2"/>
          <p:cNvSpPr txBox="1"/>
          <p:nvPr/>
        </p:nvSpPr>
        <p:spPr>
          <a:xfrm>
            <a:off x="960120" y="4681728"/>
            <a:ext cx="9326880" cy="1325880"/>
          </a:xfrm>
          <a:prstGeom prst="rect">
            <a:avLst/>
          </a:prstGeom>
          <a:noFill/>
          <a:ln/>
        </p:spPr>
        <p:txBody>
          <a:bodyPr wrap="square" lIns="0" tIns="0" rIns="0" bIns="0" rtlCol="0" anchor="ctr"/>
          <a:lstStyle/>
          <a:p>
            <a:pPr indent="0" marL="0">
              <a:lnSpc>
                <a:spcPct val="125000"/>
              </a:lnSpc>
              <a:buNone/>
            </a:pPr>
            <a:r>
              <a:rPr lang="en-US" sz="1800" dirty="0">
                <a:solidFill>
                  <a:srgbClr val="3A4A59"/>
                </a:solidFill>
                <a:latin typeface="Calibri" pitchFamily="34" charset="0"/>
                <a:ea typeface="Calibri" pitchFamily="34" charset="-122"/>
                <a:cs typeface="Calibri" pitchFamily="34" charset="-120"/>
              </a:rPr>
              <a:t>A patient far outside the data can still receive confident, wrong, unanimous predictions if the model form extrapolates smoothly. Treat this as a screen, not a guarantee. Deep ensembles, MC dropout and conformal prediction differ in machinery and play the same logical role - conformal is worth naming, because its coverage guarantee assumes exchangeability, and exchangeability is exactly what site B broke.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Letting the model abstain</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A deployed model does not have to answer every question. Rank by uncertainty, hand the worst back to a clinician, and measure what remains.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RISK-COVERAGE ON THE UNFAMILIAR WARD</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Does the model know what it does not know?</a:t>
            </a:r>
            <a:endParaRPr lang="en-US" sz="3000" dirty="0"/>
          </a:p>
        </p:txBody>
      </p:sp>
      <p:pic>
        <p:nvPicPr>
          <p:cNvPr id="4" name="Image 0" descr="figures/l2_risk_coverage.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Random deferral is the null: it shrinks the cohort and improves nothing, so its curve is flat. Any ranking worth using must beat it.</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TWO SIGNALS, TWO DIFFERENT JOBS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They defer different patients, and that is the point</a:t>
            </a:r>
            <a:endParaRPr lang="en-US" sz="3000" dirty="0"/>
          </a:p>
        </p:txBody>
      </p:sp>
      <p:sp>
        <p:nvSpPr>
          <p:cNvPr id="4" name="Shape 2"/>
          <p:cNvSpPr/>
          <p:nvPr/>
        </p:nvSpPr>
        <p:spPr>
          <a:xfrm>
            <a:off x="685800" y="1572768"/>
            <a:ext cx="5166360" cy="3703320"/>
          </a:xfrm>
          <a:prstGeom prst="roundRect">
            <a:avLst>
              <a:gd name="adj" fmla="val 1975"/>
            </a:avLst>
          </a:prstGeom>
          <a:solidFill>
            <a:srgbClr val="F2F5F7"/>
          </a:solidFill>
          <a:ln/>
        </p:spPr>
      </p:sp>
      <p:sp>
        <p:nvSpPr>
          <p:cNvPr id="5" name="Shape 3"/>
          <p:cNvSpPr/>
          <p:nvPr/>
        </p:nvSpPr>
        <p:spPr>
          <a:xfrm>
            <a:off x="1005840" y="1828800"/>
            <a:ext cx="365760" cy="365760"/>
          </a:xfrm>
          <a:prstGeom prst="ellipse">
            <a:avLst/>
          </a:prstGeom>
          <a:solidFill>
            <a:srgbClr val="2E74B5"/>
          </a:solidFill>
          <a:ln/>
        </p:spPr>
      </p:sp>
      <p:sp>
        <p:nvSpPr>
          <p:cNvPr id="6" name="Text 4"/>
          <p:cNvSpPr txBox="1"/>
          <p:nvPr/>
        </p:nvSpPr>
        <p:spPr>
          <a:xfrm>
            <a:off x="152704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Aleatoric: distance from 0.5</a:t>
            </a:r>
            <a:endParaRPr lang="en-US" sz="1900" dirty="0"/>
          </a:p>
        </p:txBody>
      </p:sp>
      <p:sp>
        <p:nvSpPr>
          <p:cNvPr id="7" name="Text 5"/>
          <p:cNvSpPr txBox="1"/>
          <p:nvPr/>
        </p:nvSpPr>
        <p:spPr>
          <a:xfrm>
            <a:off x="100584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Defers genuinely borderline patients.</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Mechanically reduces classification error, so it usually looks strongest on a risk-coverage plot.</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Use it to triage the borderline cases into human review.</a:t>
            </a:r>
            <a:endParaRPr lang="en-US" sz="1450" dirty="0"/>
          </a:p>
        </p:txBody>
      </p:sp>
      <p:sp>
        <p:nvSpPr>
          <p:cNvPr id="8" name="Shape 6"/>
          <p:cNvSpPr/>
          <p:nvPr/>
        </p:nvSpPr>
        <p:spPr>
          <a:xfrm>
            <a:off x="6309360" y="1572768"/>
            <a:ext cx="5166360" cy="3703320"/>
          </a:xfrm>
          <a:prstGeom prst="roundRect">
            <a:avLst>
              <a:gd name="adj" fmla="val 1975"/>
            </a:avLst>
          </a:prstGeom>
          <a:solidFill>
            <a:srgbClr val="F2F5F7"/>
          </a:solidFill>
          <a:ln/>
        </p:spPr>
      </p:sp>
      <p:sp>
        <p:nvSpPr>
          <p:cNvPr id="9" name="Shape 7"/>
          <p:cNvSpPr/>
          <p:nvPr/>
        </p:nvSpPr>
        <p:spPr>
          <a:xfrm>
            <a:off x="6629400" y="1828800"/>
            <a:ext cx="365760" cy="365760"/>
          </a:xfrm>
          <a:prstGeom prst="ellipse">
            <a:avLst/>
          </a:prstGeom>
          <a:solidFill>
            <a:srgbClr val="DD5A22"/>
          </a:solidFill>
          <a:ln/>
        </p:spPr>
      </p:sp>
      <p:sp>
        <p:nvSpPr>
          <p:cNvPr id="10" name="Text 8"/>
          <p:cNvSpPr txBox="1"/>
          <p:nvPr/>
        </p:nvSpPr>
        <p:spPr>
          <a:xfrm>
            <a:off x="715060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Epistemic: ensemble disagreement</a:t>
            </a:r>
            <a:endParaRPr lang="en-US" sz="1900" dirty="0"/>
          </a:p>
        </p:txBody>
      </p:sp>
      <p:sp>
        <p:nvSpPr>
          <p:cNvPr id="11" name="Text 9"/>
          <p:cNvSpPr txBox="1"/>
          <p:nvPr/>
        </p:nvSpPr>
        <p:spPr>
          <a:xfrm>
            <a:off x="662940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Defers patients the model was never equipped to judge.</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Improves the error rate less, and protects you from confidently harming someone.</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Use it as a hard gate on patients outside the model's competence.</a:t>
            </a:r>
            <a:endParaRPr lang="en-US" sz="1450" dirty="0"/>
          </a:p>
        </p:txBody>
      </p:sp>
      <p:sp>
        <p:nvSpPr>
          <p:cNvPr id="12" name="Text 10"/>
          <p:cNvSpPr txBox="1"/>
          <p:nvPr/>
        </p:nvSpPr>
        <p:spPr>
          <a:xfrm>
            <a:off x="685800" y="5486400"/>
            <a:ext cx="10789920" cy="914400"/>
          </a:xfrm>
          <a:prstGeom prst="rect">
            <a:avLst/>
          </a:prstGeom>
          <a:noFill/>
          <a:ln/>
        </p:spPr>
        <p:txBody>
          <a:bodyPr wrap="square" lIns="0" tIns="0" rIns="0" bIns="0" rtlCol="0" anchor="ctr"/>
          <a:lstStyle/>
          <a:p>
            <a:pPr indent="0" marL="0">
              <a:lnSpc>
                <a:spcPct val="120000"/>
              </a:lnSpc>
              <a:buNone/>
            </a:pPr>
            <a:r>
              <a:rPr lang="en-US" sz="1650" b="1" dirty="0">
                <a:solidFill>
                  <a:srgbClr val="13293D"/>
                </a:solidFill>
                <a:latin typeface="Calibri" pitchFamily="34" charset="0"/>
                <a:ea typeface="Calibri" pitchFamily="34" charset="-122"/>
                <a:cs typeface="Calibri" pitchFamily="34" charset="-120"/>
              </a:rPr>
              <a:t>Do not collapse them into one score. Report both, and use them for different things.</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threshold is a clinical decision</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predict &gt;= 0.5 encodes the assumption that a missed deterioration and an unnecessary escalation cost the same. No clinician believes that.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IF A MISSED EVENT IS R TIMES AS COSTLY AS A FALSE ALARM, THE OPTIMAL THRESHOLD IS 1 / (1 + R)</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Where the operating point actually sits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2194560"/>
                <a:gridCol w="2194560"/>
                <a:gridCol w="3200400"/>
                <a:gridCol w="320040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Cost ratio R</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Threshold</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Alert rate, uncorrected</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Alert rate, recalibrated</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2 : 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0.333</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30%</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5 : 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0.167</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29%</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71%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10 : 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0.091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61%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91%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20 : 1</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0.048</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86%</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99%</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r>
            </a:tbl>
          </a:graphicData>
        </a:graphic>
      </p:graphicFrame>
      <p:sp>
        <p:nvSpPr>
          <p:cNvPr id="5" name="Text 2"/>
          <p:cNvSpPr txBox="1"/>
          <p:nvPr/>
        </p:nvSpPr>
        <p:spPr>
          <a:xfrm>
            <a:off x="685800" y="5623560"/>
            <a:ext cx="10789920" cy="822960"/>
          </a:xfrm>
          <a:prstGeom prst="rect">
            <a:avLst/>
          </a:prstGeom>
          <a:noFill/>
          <a:ln/>
        </p:spPr>
        <p:txBody>
          <a:bodyPr wrap="square" lIns="0" tIns="0" rIns="0" bIns="0" rtlCol="0" anchor="ctr"/>
          <a:lstStyle/>
          <a:p>
            <a:pPr indent="0" marL="0">
              <a:lnSpc>
                <a:spcPct val="120000"/>
              </a:lnSpc>
              <a:buNone/>
            </a:pPr>
            <a:r>
              <a:rPr lang="en-US" sz="1550" dirty="0">
                <a:solidFill>
                  <a:srgbClr val="3A4A59"/>
                </a:solidFill>
                <a:latin typeface="Calibri" pitchFamily="34" charset="0"/>
                <a:ea typeface="Calibri" pitchFamily="34" charset="-122"/>
                <a:cs typeface="Calibri" pitchFamily="34" charset="-120"/>
              </a:rPr>
              <a:t>The useful range is nowhere near 0.5. Reporting accuracy at 0.5 describes a decision nobody would make - and the uncorrected model under-alerts worst exactly where the clinical value lives.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DECISION CURVE ANALYSIS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Is the model better than what we would do without it?</a:t>
            </a:r>
            <a:endParaRPr lang="en-US" sz="3000" dirty="0"/>
          </a:p>
        </p:txBody>
      </p:sp>
      <p:pic>
        <p:nvPicPr>
          <p:cNvPr id="4" name="Image 0" descr="figures/l2_net_benefit.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At a 10:1 cost ratio the recalibrated model earns a net benefit of about 0.19 against roughly 0.19 for escalating the entire ward. On a ward with a 26% event rate, at that cost ratio, the model is not adding much over a blanket policy.</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aggregate number lies</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A model can be well calibrated overall and badly calibrated for every subgroup in it, because the subgroup errors cancel.</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A SUBGROUP THAT WAS 8% OF DEVELOPMENT DATA AND IS 39% OF THIS WARD</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One ward, two very different models</a:t>
            </a:r>
            <a:endParaRPr lang="en-US" sz="3000" dirty="0"/>
          </a:p>
        </p:txBody>
      </p:sp>
      <p:pic>
        <p:nvPicPr>
          <p:cNvPr id="4" name="Image 0" descr="figures/l2_subgroup.png">    </p:cNvPr>
          <p:cNvPicPr>
            <a:picLocks noChangeAspect="1"/>
          </p:cNvPicPr>
          <p:nvPr/>
        </p:nvPicPr>
        <p:blipFill>
          <a:blip r:embed="rId1"/>
          <a:srcRect l="0" r="0" t="0" b="0"/>
          <a:stretch/>
        </p:blipFill>
        <p:spPr>
          <a:xfrm>
            <a:off x="685800" y="1600200"/>
            <a:ext cx="6858000" cy="3840480"/>
          </a:xfrm>
          <a:prstGeom prst="rect">
            <a:avLst/>
          </a:prstGeom>
        </p:spPr>
      </p:pic>
      <p:sp>
        <p:nvSpPr>
          <p:cNvPr id="5" name="Shape 2"/>
          <p:cNvSpPr/>
          <p:nvPr/>
        </p:nvSpPr>
        <p:spPr>
          <a:xfrm>
            <a:off x="7818120" y="1764792"/>
            <a:ext cx="310896" cy="310896"/>
          </a:xfrm>
          <a:prstGeom prst="ellipse">
            <a:avLst/>
          </a:prstGeom>
          <a:solidFill>
            <a:srgbClr val="2E74B5"/>
          </a:solidFill>
          <a:ln/>
        </p:spPr>
      </p:sp>
      <p:sp>
        <p:nvSpPr>
          <p:cNvPr id="6" name="Text 3"/>
          <p:cNvSpPr txBox="1"/>
          <p:nvPr/>
        </p:nvSpPr>
        <p:spPr>
          <a:xfrm>
            <a:off x="7818120" y="1764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8275320" y="1719072"/>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A coin flip for 39% of the ward</a:t>
            </a:r>
            <a:endParaRPr lang="en-US" sz="1550" dirty="0"/>
          </a:p>
        </p:txBody>
      </p:sp>
      <p:sp>
        <p:nvSpPr>
          <p:cNvPr id="8" name="Text 5"/>
          <p:cNvSpPr txBox="1"/>
          <p:nvPr/>
        </p:nvSpPr>
        <p:spPr>
          <a:xfrm>
            <a:off x="8275320" y="2048256"/>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AUROC 0.72 for the majority group, 0.54 for the minority - and their risk is understated throughout.</a:t>
            </a:r>
            <a:endParaRPr lang="en-US" sz="1350" dirty="0"/>
          </a:p>
        </p:txBody>
      </p:sp>
      <p:sp>
        <p:nvSpPr>
          <p:cNvPr id="9" name="Shape 6"/>
          <p:cNvSpPr/>
          <p:nvPr/>
        </p:nvSpPr>
        <p:spPr>
          <a:xfrm>
            <a:off x="7818120" y="3154680"/>
            <a:ext cx="310896" cy="310896"/>
          </a:xfrm>
          <a:prstGeom prst="ellipse">
            <a:avLst/>
          </a:prstGeom>
          <a:solidFill>
            <a:srgbClr val="DD5A22"/>
          </a:solidFill>
          <a:ln/>
        </p:spPr>
      </p:sp>
      <p:sp>
        <p:nvSpPr>
          <p:cNvPr id="10" name="Text 7"/>
          <p:cNvSpPr txBox="1"/>
          <p:nvPr/>
        </p:nvSpPr>
        <p:spPr>
          <a:xfrm>
            <a:off x="7818120" y="3154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8275320" y="3108960"/>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A shift report finds nothing</a:t>
            </a:r>
            <a:endParaRPr lang="en-US" sz="1550" dirty="0"/>
          </a:p>
        </p:txBody>
      </p:sp>
      <p:sp>
        <p:nvSpPr>
          <p:cNvPr id="12" name="Text 9"/>
          <p:cNvSpPr txBox="1"/>
          <p:nvPr/>
        </p:nvSpPr>
        <p:spPr>
          <a:xfrm>
            <a:off x="8275320" y="3438144"/>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The covariate distributions are fine. What differs is the conditional relationship between labs and outcome.</a:t>
            </a:r>
            <a:endParaRPr lang="en-US" sz="1350" dirty="0"/>
          </a:p>
        </p:txBody>
      </p:sp>
      <p:sp>
        <p:nvSpPr>
          <p:cNvPr id="13" name="Shape 10"/>
          <p:cNvSpPr/>
          <p:nvPr/>
        </p:nvSpPr>
        <p:spPr>
          <a:xfrm>
            <a:off x="7818120" y="4544568"/>
            <a:ext cx="310896" cy="310896"/>
          </a:xfrm>
          <a:prstGeom prst="ellipse">
            <a:avLst/>
          </a:prstGeom>
          <a:solidFill>
            <a:srgbClr val="0E8F6E"/>
          </a:solidFill>
          <a:ln/>
        </p:spPr>
      </p:sp>
      <p:sp>
        <p:nvSpPr>
          <p:cNvPr id="14" name="Text 11"/>
          <p:cNvSpPr txBox="1"/>
          <p:nvPr/>
        </p:nvSpPr>
        <p:spPr>
          <a:xfrm>
            <a:off x="7818120" y="45445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8275320" y="4498848"/>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A sample-size problem</a:t>
            </a:r>
            <a:endParaRPr lang="en-US" sz="1550" dirty="0"/>
          </a:p>
        </p:txBody>
      </p:sp>
      <p:sp>
        <p:nvSpPr>
          <p:cNvPr id="16" name="Text 13"/>
          <p:cNvSpPr txBox="1"/>
          <p:nvPr/>
        </p:nvSpPr>
        <p:spPr>
          <a:xfrm>
            <a:off x="8275320" y="4828032"/>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657 training patients could never have identified that interaction. This is the case for the next section.</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Hierarchy, and simulators</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Four hospitals report deterioration rates. One of them saw four patients and one event.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PARTIAL POOLING ACROSS FOUR HOSPITALS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How far each site is pulled is estimated, not chosen</a:t>
            </a:r>
            <a:endParaRPr lang="en-US" sz="3000" dirty="0"/>
          </a:p>
        </p:txBody>
      </p:sp>
      <p:pic>
        <p:nvPicPr>
          <p:cNvPr id="4" name="Image 0" descr="figures/l2_pooling.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The large teaching hospital is barely moved; the new unit almost entirely. That is what separates hierarchical modelling from fitting each site alone (the new unit gets a 25% rate) or one model for all sites (site differences vanish).</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WHEN THE MODEL IS A SIMULATOR</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A posterior over parameters that mean something</a:t>
            </a:r>
            <a:endParaRPr lang="en-US" sz="3000" dirty="0"/>
          </a:p>
        </p:txBody>
      </p:sp>
      <p:sp>
        <p:nvSpPr>
          <p:cNvPr id="4" name="Shape 2"/>
          <p:cNvSpPr/>
          <p:nvPr/>
        </p:nvSpPr>
        <p:spPr>
          <a:xfrm>
            <a:off x="685800" y="1572768"/>
            <a:ext cx="5166360" cy="3703320"/>
          </a:xfrm>
          <a:prstGeom prst="roundRect">
            <a:avLst>
              <a:gd name="adj" fmla="val 1975"/>
            </a:avLst>
          </a:prstGeom>
          <a:solidFill>
            <a:srgbClr val="F2F5F7"/>
          </a:solidFill>
          <a:ln/>
        </p:spPr>
      </p:sp>
      <p:sp>
        <p:nvSpPr>
          <p:cNvPr id="5" name="Shape 3"/>
          <p:cNvSpPr/>
          <p:nvPr/>
        </p:nvSpPr>
        <p:spPr>
          <a:xfrm>
            <a:off x="1005840" y="1828800"/>
            <a:ext cx="365760" cy="365760"/>
          </a:xfrm>
          <a:prstGeom prst="ellipse">
            <a:avLst/>
          </a:prstGeom>
          <a:solidFill>
            <a:srgbClr val="2E74B5"/>
          </a:solidFill>
          <a:ln/>
        </p:spPr>
      </p:sp>
      <p:sp>
        <p:nvSpPr>
          <p:cNvPr id="6" name="Text 4"/>
          <p:cNvSpPr txBox="1"/>
          <p:nvPr/>
        </p:nvSpPr>
        <p:spPr>
          <a:xfrm>
            <a:off x="152704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Rejection sampling (ABC)</a:t>
            </a:r>
            <a:endParaRPr lang="en-US" sz="1900" dirty="0"/>
          </a:p>
        </p:txBody>
      </p:sp>
      <p:sp>
        <p:nvSpPr>
          <p:cNvPr id="7" name="Text 5"/>
          <p:cNvSpPr txBox="1"/>
          <p:nvPr/>
        </p:nvSpPr>
        <p:spPr>
          <a:xfrm>
            <a:off x="100584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Simulate from the prior, keep the runs whose summaries resemble what you observed.</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12,000 simulations to keep 240. The acceptance rate collapses as soon as the parameter has more than one or two dimensions.</a:t>
            </a:r>
            <a:endParaRPr lang="en-US" sz="1450" dirty="0"/>
          </a:p>
        </p:txBody>
      </p:sp>
      <p:sp>
        <p:nvSpPr>
          <p:cNvPr id="8" name="Shape 6"/>
          <p:cNvSpPr/>
          <p:nvPr/>
        </p:nvSpPr>
        <p:spPr>
          <a:xfrm>
            <a:off x="6309360" y="1572768"/>
            <a:ext cx="5166360" cy="3703320"/>
          </a:xfrm>
          <a:prstGeom prst="roundRect">
            <a:avLst>
              <a:gd name="adj" fmla="val 1975"/>
            </a:avLst>
          </a:prstGeom>
          <a:solidFill>
            <a:srgbClr val="F2F5F7"/>
          </a:solidFill>
          <a:ln/>
        </p:spPr>
      </p:sp>
      <p:sp>
        <p:nvSpPr>
          <p:cNvPr id="9" name="Shape 7"/>
          <p:cNvSpPr/>
          <p:nvPr/>
        </p:nvSpPr>
        <p:spPr>
          <a:xfrm>
            <a:off x="6629400" y="1828800"/>
            <a:ext cx="365760" cy="365760"/>
          </a:xfrm>
          <a:prstGeom prst="ellipse">
            <a:avLst/>
          </a:prstGeom>
          <a:solidFill>
            <a:srgbClr val="DD5A22"/>
          </a:solidFill>
          <a:ln/>
        </p:spPr>
      </p:sp>
      <p:sp>
        <p:nvSpPr>
          <p:cNvPr id="10" name="Text 8"/>
          <p:cNvSpPr txBox="1"/>
          <p:nvPr/>
        </p:nvSpPr>
        <p:spPr>
          <a:xfrm>
            <a:off x="715060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Neural posterior estimation</a:t>
            </a:r>
            <a:endParaRPr lang="en-US" sz="1900" dirty="0"/>
          </a:p>
        </p:txBody>
      </p:sp>
      <p:sp>
        <p:nvSpPr>
          <p:cNvPr id="11" name="Text 9"/>
          <p:cNvSpPr txBox="1"/>
          <p:nvPr/>
        </p:nvSpPr>
        <p:spPr>
          <a:xfrm>
            <a:off x="662940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Train a density estimator on the simulations, so every one of them contributes.</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Amortised: once trained, the posterior for a new observation comes out without rerunning the simulator.</a:t>
            </a:r>
            <a:endParaRPr lang="en-US" sz="1450" dirty="0"/>
          </a:p>
        </p:txBody>
      </p:sp>
      <p:sp>
        <p:nvSpPr>
          <p:cNvPr id="12" name="Text 10"/>
          <p:cNvSpPr txBox="1"/>
          <p:nvPr/>
        </p:nvSpPr>
        <p:spPr>
          <a:xfrm>
            <a:off x="685800" y="5486400"/>
            <a:ext cx="10789920" cy="914400"/>
          </a:xfrm>
          <a:prstGeom prst="rect">
            <a:avLst/>
          </a:prstGeom>
          <a:noFill/>
          <a:ln/>
        </p:spPr>
        <p:txBody>
          <a:bodyPr wrap="square" lIns="0" tIns="0" rIns="0" bIns="0" rtlCol="0" anchor="ctr"/>
          <a:lstStyle/>
          <a:p>
            <a:pPr indent="0" marL="0">
              <a:lnSpc>
                <a:spcPct val="120000"/>
              </a:lnSpc>
              <a:buNone/>
            </a:pPr>
            <a:r>
              <a:rPr lang="en-US" sz="1650" b="1" dirty="0">
                <a:solidFill>
                  <a:srgbClr val="13293D"/>
                </a:solidFill>
                <a:latin typeface="Calibri" pitchFamily="34" charset="0"/>
                <a:ea typeface="Calibri" pitchFamily="34" charset="-122"/>
                <a:cs typeface="Calibri" pitchFamily="34" charset="-120"/>
              </a:rPr>
              <a:t>Why a clinical audience should care: a progression rate or an effect size is something a clinician can argue with.</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LECTURE 2</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What to take away</a:t>
            </a:r>
            <a:endParaRPr lang="en-US" sz="3000" dirty="0"/>
          </a:p>
        </p:txBody>
      </p:sp>
      <p:sp>
        <p:nvSpPr>
          <p:cNvPr id="4" name="Shape 2"/>
          <p:cNvSpPr/>
          <p:nvPr/>
        </p:nvSpPr>
        <p:spPr>
          <a:xfrm>
            <a:off x="685800" y="1636776"/>
            <a:ext cx="347472" cy="347472"/>
          </a:xfrm>
          <a:prstGeom prst="ellipse">
            <a:avLst/>
          </a:prstGeom>
          <a:solidFill>
            <a:srgbClr val="2E74B5"/>
          </a:solidFill>
          <a:ln/>
        </p:spPr>
      </p:sp>
      <p:sp>
        <p:nvSpPr>
          <p:cNvPr id="5" name="Text 3"/>
          <p:cNvSpPr txBox="1"/>
          <p:nvPr/>
        </p:nvSpPr>
        <p:spPr>
          <a:xfrm>
            <a:off x="685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97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Recalibrate, and budget the labels</a:t>
            </a:r>
            <a:endParaRPr lang="en-US" sz="1700" dirty="0"/>
          </a:p>
        </p:txBody>
      </p:sp>
      <p:sp>
        <p:nvSpPr>
          <p:cNvPr id="7" name="Text 5"/>
          <p:cNvSpPr txBox="1"/>
          <p:nvPr/>
        </p:nvSpPr>
        <p:spPr>
          <a:xfrm>
            <a:off x="1197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Match the flexibility of the fix to what you can collect</a:t>
            </a:r>
            <a:endParaRPr lang="en-US" sz="1450" dirty="0"/>
          </a:p>
        </p:txBody>
      </p:sp>
      <p:sp>
        <p:nvSpPr>
          <p:cNvPr id="8" name="Shape 6"/>
          <p:cNvSpPr/>
          <p:nvPr/>
        </p:nvSpPr>
        <p:spPr>
          <a:xfrm>
            <a:off x="685800" y="2569464"/>
            <a:ext cx="347472" cy="347472"/>
          </a:xfrm>
          <a:prstGeom prst="ellipse">
            <a:avLst/>
          </a:prstGeom>
          <a:solidFill>
            <a:srgbClr val="DD5A22"/>
          </a:solidFill>
          <a:ln/>
        </p:spPr>
      </p:sp>
      <p:sp>
        <p:nvSpPr>
          <p:cNvPr id="9" name="Text 7"/>
          <p:cNvSpPr txBox="1"/>
          <p:nvPr/>
        </p:nvSpPr>
        <p:spPr>
          <a:xfrm>
            <a:off x="685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97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Ensemble spread needs no outcomes</a:t>
            </a:r>
            <a:endParaRPr lang="en-US" sz="1700" dirty="0"/>
          </a:p>
        </p:txBody>
      </p:sp>
      <p:sp>
        <p:nvSpPr>
          <p:cNvPr id="11" name="Text 9"/>
          <p:cNvSpPr txBox="1"/>
          <p:nvPr/>
        </p:nvSpPr>
        <p:spPr>
          <a:xfrm>
            <a:off x="1197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The check you can run on day one</a:t>
            </a:r>
            <a:endParaRPr lang="en-US" sz="1450" dirty="0"/>
          </a:p>
        </p:txBody>
      </p:sp>
      <p:sp>
        <p:nvSpPr>
          <p:cNvPr id="12" name="Shape 10"/>
          <p:cNvSpPr/>
          <p:nvPr/>
        </p:nvSpPr>
        <p:spPr>
          <a:xfrm>
            <a:off x="685800" y="3502152"/>
            <a:ext cx="347472" cy="347472"/>
          </a:xfrm>
          <a:prstGeom prst="ellipse">
            <a:avLst/>
          </a:prstGeom>
          <a:solidFill>
            <a:srgbClr val="0E8F6E"/>
          </a:solidFill>
          <a:ln/>
        </p:spPr>
      </p:sp>
      <p:sp>
        <p:nvSpPr>
          <p:cNvPr id="13" name="Text 11"/>
          <p:cNvSpPr txBox="1"/>
          <p:nvPr/>
        </p:nvSpPr>
        <p:spPr>
          <a:xfrm>
            <a:off x="685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97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Keep the two uncertainties apart</a:t>
            </a:r>
            <a:endParaRPr lang="en-US" sz="1700" dirty="0"/>
          </a:p>
        </p:txBody>
      </p:sp>
      <p:sp>
        <p:nvSpPr>
          <p:cNvPr id="15" name="Text 13"/>
          <p:cNvSpPr txBox="1"/>
          <p:nvPr/>
        </p:nvSpPr>
        <p:spPr>
          <a:xfrm>
            <a:off x="1197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They belong in different parts of an abstention rule</a:t>
            </a:r>
            <a:endParaRPr lang="en-US" sz="1450" dirty="0"/>
          </a:p>
        </p:txBody>
      </p:sp>
      <p:sp>
        <p:nvSpPr>
          <p:cNvPr id="16" name="Shape 14"/>
          <p:cNvSpPr/>
          <p:nvPr/>
        </p:nvSpPr>
        <p:spPr>
          <a:xfrm>
            <a:off x="6400800" y="1636776"/>
            <a:ext cx="347472" cy="347472"/>
          </a:xfrm>
          <a:prstGeom prst="ellipse">
            <a:avLst/>
          </a:prstGeom>
          <a:solidFill>
            <a:srgbClr val="9C4BA0"/>
          </a:solidFill>
          <a:ln/>
        </p:spPr>
      </p:sp>
      <p:sp>
        <p:nvSpPr>
          <p:cNvPr id="17" name="Text 15"/>
          <p:cNvSpPr txBox="1"/>
          <p:nvPr/>
        </p:nvSpPr>
        <p:spPr>
          <a:xfrm>
            <a:off x="6400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912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The threshold comes from the costs</a:t>
            </a:r>
            <a:endParaRPr lang="en-US" sz="1700" dirty="0"/>
          </a:p>
        </p:txBody>
      </p:sp>
      <p:sp>
        <p:nvSpPr>
          <p:cNvPr id="19" name="Text 17"/>
          <p:cNvSpPr txBox="1"/>
          <p:nvPr/>
        </p:nvSpPr>
        <p:spPr>
          <a:xfrm>
            <a:off x="6912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And is usually far below 0.5</a:t>
            </a:r>
            <a:endParaRPr lang="en-US" sz="1450" dirty="0"/>
          </a:p>
        </p:txBody>
      </p:sp>
      <p:sp>
        <p:nvSpPr>
          <p:cNvPr id="20" name="Shape 18"/>
          <p:cNvSpPr/>
          <p:nvPr/>
        </p:nvSpPr>
        <p:spPr>
          <a:xfrm>
            <a:off x="6400800" y="2569464"/>
            <a:ext cx="347472" cy="347472"/>
          </a:xfrm>
          <a:prstGeom prst="ellipse">
            <a:avLst/>
          </a:prstGeom>
          <a:solidFill>
            <a:srgbClr val="2E74B5"/>
          </a:solidFill>
          <a:ln/>
        </p:spPr>
      </p:sp>
      <p:sp>
        <p:nvSpPr>
          <p:cNvPr id="21" name="Text 19"/>
          <p:cNvSpPr txBox="1"/>
          <p:nvPr/>
        </p:nvSpPr>
        <p:spPr>
          <a:xfrm>
            <a:off x="6400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6912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Report everything stratified</a:t>
            </a:r>
            <a:endParaRPr lang="en-US" sz="1700" dirty="0"/>
          </a:p>
        </p:txBody>
      </p:sp>
      <p:sp>
        <p:nvSpPr>
          <p:cNvPr id="23" name="Text 21"/>
          <p:cNvSpPr txBox="1"/>
          <p:nvPr/>
        </p:nvSpPr>
        <p:spPr>
          <a:xfrm>
            <a:off x="6912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A stratum too small to evaluate is itself a finding</a:t>
            </a:r>
            <a:endParaRPr lang="en-US" sz="1450" dirty="0"/>
          </a:p>
        </p:txBody>
      </p:sp>
      <p:sp>
        <p:nvSpPr>
          <p:cNvPr id="24" name="Shape 22"/>
          <p:cNvSpPr/>
          <p:nvPr/>
        </p:nvSpPr>
        <p:spPr>
          <a:xfrm>
            <a:off x="6400800" y="3502152"/>
            <a:ext cx="347472" cy="347472"/>
          </a:xfrm>
          <a:prstGeom prst="ellipse">
            <a:avLst/>
          </a:prstGeom>
          <a:solidFill>
            <a:srgbClr val="DD5A22"/>
          </a:solidFill>
          <a:ln/>
        </p:spPr>
      </p:sp>
      <p:sp>
        <p:nvSpPr>
          <p:cNvPr id="25" name="Text 23"/>
          <p:cNvSpPr txBox="1"/>
          <p:nvPr/>
        </p:nvSpPr>
        <p:spPr>
          <a:xfrm>
            <a:off x="6400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6912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Let the data decide the pooling</a:t>
            </a:r>
            <a:endParaRPr lang="en-US" sz="1700" dirty="0"/>
          </a:p>
        </p:txBody>
      </p:sp>
      <p:sp>
        <p:nvSpPr>
          <p:cNvPr id="27" name="Text 25"/>
          <p:cNvSpPr txBox="1"/>
          <p:nvPr/>
        </p:nvSpPr>
        <p:spPr>
          <a:xfrm>
            <a:off x="6912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Small sites and small subgroups borrow strength</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Your project</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Six teams. One task. Six different reasons the model should not be trusted.</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93D"/>
        </a:solidFill>
      </p:bgPr>
    </p:bg>
    <p:spTree>
      <p:nvGrpSpPr>
        <p:cNvPr id="1" name=""/>
        <p:cNvGrpSpPr/>
        <p:nvPr/>
      </p:nvGrpSpPr>
      <p:grpSpPr>
        <a:xfrm>
          <a:off x="0" y="0"/>
          <a:ext cx="0" cy="0"/>
          <a:chOff x="0" y="0"/>
          <a:chExt cx="0" cy="0"/>
        </a:xfrm>
      </p:grpSpPr>
      <p:sp>
        <p:nvSpPr>
          <p:cNvPr id="2" name="Text 0"/>
          <p:cNvSpPr txBox="1"/>
          <p:nvPr/>
        </p:nvSpPr>
        <p:spPr>
          <a:xfrm>
            <a:off x="960120" y="1737360"/>
            <a:ext cx="10241280" cy="2286000"/>
          </a:xfrm>
          <a:prstGeom prst="rect">
            <a:avLst/>
          </a:prstGeom>
          <a:noFill/>
          <a:ln/>
        </p:spPr>
        <p:txBody>
          <a:bodyPr wrap="square" lIns="0" tIns="0" rIns="0" bIns="0" rtlCol="0" anchor="ctr"/>
          <a:lstStyle/>
          <a:p>
            <a:pPr indent="0" marL="0">
              <a:lnSpc>
                <a:spcPct val="112000"/>
              </a:lnSpc>
              <a:buNone/>
            </a:pPr>
            <a:r>
              <a:rPr lang="en-US" sz="3600" b="1" dirty="0">
                <a:solidFill>
                  <a:srgbClr val="FFFFFF"/>
                </a:solidFill>
                <a:latin typeface="Cambria" pitchFamily="34" charset="0"/>
                <a:ea typeface="Cambria" pitchFamily="34" charset="-122"/>
                <a:cs typeface="Cambria" pitchFamily="34" charset="-120"/>
              </a:rPr>
              <a:t>The task is not to raise AUROC.</a:t>
            </a:r>
            <a:endParaRPr lang="en-US" sz="3600" dirty="0"/>
          </a:p>
        </p:txBody>
      </p:sp>
      <p:sp>
        <p:nvSpPr>
          <p:cNvPr id="3" name="Shape 1"/>
          <p:cNvSpPr/>
          <p:nvPr/>
        </p:nvSpPr>
        <p:spPr>
          <a:xfrm>
            <a:off x="960120" y="4224528"/>
            <a:ext cx="1005840" cy="32004"/>
          </a:xfrm>
          <a:prstGeom prst="rect">
            <a:avLst/>
          </a:prstGeom>
          <a:solidFill>
            <a:srgbClr val="DD5A22"/>
          </a:solidFill>
          <a:ln/>
        </p:spPr>
      </p:sp>
      <p:sp>
        <p:nvSpPr>
          <p:cNvPr id="4" name="Text 2"/>
          <p:cNvSpPr txBox="1"/>
          <p:nvPr/>
        </p:nvSpPr>
        <p:spPr>
          <a:xfrm>
            <a:off x="960120" y="4681728"/>
            <a:ext cx="9326880" cy="132588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Each team gets development data and six months of shadow-mode records from one hospital - the model scored every admission, nobody acted on the scores. Identical columns, identical task. Work out what is wrong, who it is wrong for, when the model should refuse to answer, and whether you would switch it on. Five minutes, three or four slides.</a:t>
            </a:r>
            <a:endParaRPr lang="en-US" sz="1800" dirty="0"/>
          </a:p>
          <a:p>
            <a:pPr indent="0" marL="0">
              <a:lnSpc>
                <a:spcPct val="125000"/>
              </a:lnSpc>
              <a:buNone/>
            </a:pPr>
            <a:endParaRPr lang="en-US" sz="1800" dirty="0"/>
          </a:p>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Read project/PROJECT_BRIEF.md and start from notebooks/90_team_project_starter.ipynb.</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Penn State College of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Deciding under uncertainty</dc:title>
  <dc:subject>AI &amp; Uncertainty School and Workshop 2026, healthcare module</dc:subject>
  <dc:creator>Alireza Vafaei Sadr</dc:creator>
  <cp:lastModifiedBy>Alireza Vafaei Sadr</cp:lastModifiedBy>
  <cp:revision>1</cp:revision>
  <dcterms:created xsi:type="dcterms:W3CDTF">2026-09-06T15:47:26Z</dcterms:created>
  <dcterms:modified xsi:type="dcterms:W3CDTF">2026-09-06T15:47:26Z</dcterms:modified>
</cp:coreProperties>
</file>